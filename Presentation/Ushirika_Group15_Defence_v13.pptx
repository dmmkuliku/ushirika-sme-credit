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EASTERN AFRICA STATISTICAL TRAINING CENTRE (EASTC)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EF0"/>
                </a:solidFill>
                <a:latin typeface="Calibri"/>
              </a:rPr>
              <a:t>Capstone Project Defence  ·  Bachelor of Data Science (Year III)  · 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Development of a Machine Learning-Based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Credit Risk Assessment Model for SME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Value Chain Financing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8E8E4"/>
                </a:solidFill>
                <a:latin typeface="Calibri"/>
              </a:rPr>
              <a:t>A Case Study of Tanzania’s Supply Chains  ·  Platform: Ushirika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6766560" cy="260604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9688"/>
                </a:solidFill>
                <a:latin typeface="Calibri"/>
              </a:rPr>
              <a:t>GROUP 15  ·  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Herman Edward Mkumbwa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Raymond Elphance Tungaraza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Edwin Celestin Silayo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4747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Grace Joachim Mohammed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Priscila Nestor Mpembela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926080"/>
            <a:ext cx="3931920" cy="260604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3108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9688"/>
                </a:solidFill>
                <a:latin typeface="Calibri"/>
              </a:rPr>
              <a:t>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74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Mr. Rajabu Msangi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160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9688"/>
                </a:solidFill>
                <a:latin typeface="Calibri"/>
              </a:rPr>
              <a:t>LIVE PROJECT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526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8E8E4"/>
                </a:solidFill>
                <a:latin typeface="Calibri"/>
              </a:rPr>
              <a:t>ushirika-sme-portal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D8E8E4"/>
                </a:solidFill>
                <a:latin typeface="Calibri"/>
              </a:rPr>
              <a:t>.vercel.app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BC4BA"/>
                </a:solidFill>
                <a:latin typeface="Calibri"/>
              </a:rPr>
              <a:t>https://ushirika-sme-portal.vercel.app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126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B8D0C8"/>
                </a:solidFill>
                <a:latin typeface="Calibri"/>
              </a:rPr>
              <a:t>1  /  9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1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Why many Tanzanian SMEs still struggle to get fair credit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128016" cy="20574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Collateral-heavy lending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Banks still ask for collateral and formal statements that most small traders simply do not have.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128016" cy="2057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Static risk ratios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377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Old financial ratios often miss healthy businesses that work in informal or semi-formal supply chains.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94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3794760"/>
            <a:ext cx="128016" cy="20574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14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Unused payment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How buyers and suppliers actually pay is useful risk data — but few systems capture and use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128016" cy="2057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069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114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The missing middle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6634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Without another way to score them, good SMEs stay locked out of formal finance.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2  /  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vortex dir="u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1" grpId="0" animBg="1"/>
      <p:bldP spid="16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AIM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What we set out to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13385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128016" cy="13258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GENERAL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F2830"/>
                </a:solidFill>
                <a:latin typeface="Calibri"/>
              </a:rPr>
              <a:t>Build a working platform that reads supply-chain transactions and uses machine learning to give fairer, clearer credit risk scores for Tanzanian SMEs.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06324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3063240"/>
            <a:ext cx="365760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01  Features from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Turn raw supply-chain transactions into useful predictors.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06324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3063240"/>
            <a:ext cx="3657600" cy="6400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02  Compare two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9776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Test Random Forest against Logistic Regression.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06324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3063240"/>
            <a:ext cx="365760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03  Prove with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9776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Judge quality with Accuracy, Precision, Recall, F1 and ROC-AUC.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3  /  9</a:t>
            </a:r>
          </a:p>
        </p:txBody>
      </p:sp>
    </p:spTree>
  </p:cSld>
  <p:clrMapOvr>
    <a:masterClrMapping/>
  </p:clrMapOvr>
  <p:transition spd="med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Ushirika — a live credit platform for SMEs and lenders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788920" cy="5943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Vite portal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SME · Lender · Admin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English / Kiswahili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508760"/>
            <a:ext cx="2788920" cy="5943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3172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FastAPI + JWT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Secure login flows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Role-based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508760"/>
            <a:ext cx="2788920" cy="594360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ML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Feature engineering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RF (main) + LR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Plain repayment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A7A6D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81160" y="1508760"/>
            <a:ext cx="2788920" cy="59436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62763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Data &amp;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33172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SQL storage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PII protected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F2830"/>
                </a:solidFill>
                <a:latin typeface="Calibri"/>
              </a:rPr>
              <a:t>Careful loan caps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75488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Lenders can search an SME, open the profile, and see score, risk band, plain signals and history.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Registration already checks NIDA against date of birth, and uses region and district lists.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D525A"/>
                </a:solidFill>
                <a:latin typeface="Calibri"/>
              </a:rPr>
              <a:t>The same portal works on desktop and on phone.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4  /  9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What prior work shows — and what is still missing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Breiman (2001)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Random Forests handle non-linear patterns better than a single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7744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Lessmann et al. (2015)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Ensemble classifiers beat classical baselines in credit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33756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Khandani et al. (2010)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Transaction data can stand in for creditworthiness when statements are thin.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29768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074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Klapper (2006)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Value-chain finance leans on buyer–supplier links, not only collateral.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417320"/>
            <a:ext cx="4297680" cy="448056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39688"/>
                </a:solidFill>
                <a:latin typeface="Calibri"/>
              </a:rPr>
              <a:t>THE GAP IN TANZANIA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9456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Few tools join live SME transactions with ML scoring.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Most published benchmarks use developed-market data.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Local supply-chain signals are still under-used.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Ushirika turns that gap into a working prototype.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5  /  9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EVALUATION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How we trained and tested the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56235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7A6D"/>
                </a:solidFill>
                <a:latin typeface="Calibri"/>
              </a:rPr>
              <a:t>TRAINING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Features from payment behaviour, volume, delays and partners.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80/20 stratified train–test split (seed 42).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Models fit on training data only; GridSearchCV uses ROC-AUC.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Hold-out metrics: Accuracy, Precision, Recall, F1, ROC-AUC.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An SME is scored only after at least twelve transactions.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Rare large deals are down-weighted so they do not inflate loan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7A6D"/>
                </a:solidFill>
                <a:latin typeface="Calibri"/>
              </a:rPr>
              <a:t>TWO MODELS COMPARED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Baseline: Logistic Regression with scaling.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Primary model: Random Forest Classifier.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Selection metric: hold-out ROC-AUC.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Score range about 300–850.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Risk bands: Low ≥650 · Medium 500–649 · High &lt;500.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>
                <a:solidFill>
                  <a:srgbClr val="0F2830"/>
                </a:solidFill>
                <a:latin typeface="Calibri"/>
              </a:rPr>
              <a:t>•  Users see plain signals such as on-time payments and late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6  /  9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FINDINGS  ·  HOLD-OUT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Random Forest beat Logistic Regression on unseen 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525A"/>
                </a:solidFill>
                <a:latin typeface="Calibri"/>
              </a:rPr>
              <a:t>From the project hold-out evaluation  ·  80/20 stratified split  ·  test n = 280 SMEs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63524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Side-by-side hold-out metrics (creditworthy = positive class)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7269480" cy="384048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20116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011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350008"/>
            <a:ext cx="7269480" cy="502920"/>
          </a:xfrm>
          <a:prstGeom prst="rect">
            <a:avLst/>
          </a:prstGeom>
          <a:solidFill>
            <a:srgbClr val="D8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450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4505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88.6%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24505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93.0%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5059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85.7%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450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89.2%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505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95.8%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Logistic Reg.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971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77.9%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39" y="29718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75.8%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71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87.7%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81.3%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718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87.5%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F2830"/>
                </a:solidFill>
                <a:latin typeface="Calibri"/>
              </a:rPr>
              <a:t>Proof of choice: RF ROC-AUC is 8.3 points higher than LR (95.8% vs 87.5%).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2830"/>
                </a:solidFill>
                <a:latin typeface="Calibri"/>
              </a:rPr>
              <a:t>RF also has higher accuracy (+10.7 pts) and precision (+17.2 pts) — fewer false “creditworthy” labels.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1417320"/>
            <a:ext cx="3520440" cy="306324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9688"/>
                </a:solidFill>
                <a:latin typeface="Calibri"/>
              </a:rPr>
              <a:t>RF confusion matrix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8E8E4"/>
                </a:solidFill>
                <a:latin typeface="Calibri"/>
              </a:rPr>
              <a:t>Test set: 280 SMEs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D8E8E4"/>
                </a:solidFill>
                <a:latin typeface="Calibri"/>
              </a:rPr>
              <a:t>True Negative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331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5328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BC4BA"/>
                </a:solidFill>
                <a:latin typeface="Calibri"/>
              </a:rPr>
              <a:t>Correct higher-risk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8072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D8E8E4"/>
                </a:solidFill>
                <a:latin typeface="Calibri"/>
              </a:rPr>
              <a:t>False Positive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28072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0083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BC4BA"/>
                </a:solidFill>
                <a:latin typeface="Calibri"/>
              </a:rPr>
              <a:t>Wrongly called safe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D8E8E4"/>
                </a:solidFill>
                <a:latin typeface="Calibri"/>
              </a:rPr>
              <a:t>False Negative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28269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48386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BC4BA"/>
                </a:solidFill>
                <a:latin typeface="Calibri"/>
              </a:rPr>
              <a:t>Missed creditworthy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758183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D8E8E4"/>
                </a:solidFill>
                <a:latin typeface="Calibri"/>
              </a:rPr>
              <a:t>True Positive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375818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959351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BC4BA"/>
                </a:solidFill>
                <a:latin typeface="Calibri"/>
              </a:rPr>
              <a:t>Correct creditworthy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4663440"/>
            <a:ext cx="11338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3D2E"/>
                </a:solidFill>
                <a:latin typeface="Calibri"/>
              </a:rPr>
              <a:t>What drove the RF decisions (feature importance from the same training run)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7A6D"/>
                </a:solidFill>
                <a:latin typeface="Calibri"/>
              </a:rPr>
              <a:t>19.8%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4864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D525A"/>
                </a:solidFill>
                <a:latin typeface="Calibri"/>
              </a:rPr>
              <a:t>On-time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7A6D"/>
                </a:solidFill>
                <a:latin typeface="Calibri"/>
              </a:rPr>
              <a:t>18.7%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54864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D525A"/>
                </a:solidFill>
                <a:latin typeface="Calibri"/>
              </a:rPr>
              <a:t>Default 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7A6D"/>
                </a:solidFill>
                <a:latin typeface="Calibri"/>
              </a:rPr>
              <a:t>8.3%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4864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D525A"/>
                </a:solidFill>
                <a:latin typeface="Calibri"/>
              </a:rPr>
              <a:t>Order-type mix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7A6D"/>
                </a:solidFill>
                <a:latin typeface="Calibri"/>
              </a:rPr>
              <a:t>5.5%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4864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D525A"/>
                </a:solidFill>
                <a:latin typeface="Calibri"/>
              </a:rPr>
              <a:t>Account 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59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7A6D"/>
                </a:solidFill>
                <a:latin typeface="Calibri"/>
              </a:rPr>
              <a:t>4.6%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59" y="54864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D525A"/>
                </a:solidFill>
                <a:latin typeface="Calibri"/>
              </a:rPr>
              <a:t>Buyer share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51206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A7A6D"/>
                </a:solidFill>
                <a:latin typeface="Calibri"/>
              </a:rPr>
              <a:t>4.4%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2680" y="54864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D525A"/>
                </a:solidFill>
                <a:latin typeface="Calibri"/>
              </a:rPr>
              <a:t>Tx frequency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7  /  9</a:t>
            </a:r>
          </a:p>
        </p:txBody>
      </p:sp>
    </p:spTree>
  </p:cSld>
  <p:clrMapOvr>
    <a:masterClrMapping/>
  </p:clrMapOvr>
  <p:transition spd="med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0" grpId="0" animBg="1"/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7A6D"/>
                </a:solidFill>
                <a:latin typeface="Calibri"/>
              </a:rPr>
              <a:t>RESULTS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09728" cy="475488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38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B3D2E"/>
                </a:solidFill>
                <a:latin typeface="Georgia"/>
              </a:rPr>
              <a:t>Objectives met — and what must come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65760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  Features from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A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1499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Transactions become behavioural predictors used for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657600" cy="4114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  RF vs classical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A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1499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RF beats LR on ROC-AUC (95.8% vs 87.5%).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417320"/>
            <a:ext cx="365760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  Standard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0" y="1481328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A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1499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D525A"/>
                </a:solidFill>
                <a:latin typeface="Calibri"/>
              </a:rPr>
              <a:t>Accuracy, Precision, Recall, F1 and ROC-AUC guide model choice.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291840"/>
            <a:ext cx="11338560" cy="27432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LIMITS &amp;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947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The portal is live, but it is still a prototype — not a bank production system. The next step is a lender pilot on real SME ledgers, plus official verification links.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434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TRA — TIN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920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0"/>
                </a:solidFill>
                <a:latin typeface="Calibri"/>
              </a:rPr>
              <a:t>Integrate with TRA to verify TIN numbers so registered businesses can be confirmed.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434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TRA — EFD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8920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0"/>
                </a:solidFill>
                <a:latin typeface="Calibri"/>
              </a:rPr>
              <a:t>Link EFD receipt verification so sales reported in the portal can be checked against fiscal records.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4434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8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9688"/>
                </a:solidFill>
                <a:latin typeface="Calibri"/>
              </a:rPr>
              <a:t>NIDA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8920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EF0"/>
                </a:solidFill>
                <a:latin typeface="Calibri"/>
              </a:rPr>
              <a:t>Integrate with NIDA authority to verify national ID numbers beyond the current format and DOB checks.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USHIRIKA  ·  Group 15  ·  EASTC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565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B8D0C8"/>
                </a:solidFill>
                <a:latin typeface="Calibri"/>
              </a:rPr>
              <a:t>8  /  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3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9688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The general objective was 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E6EEF0"/>
                </a:solidFill>
                <a:latin typeface="Calibri"/>
              </a:rPr>
              <a:t>Ushirika turns supply-chain transactions into clear credit scores. We compared Random Forest with Logistic Regression on hold-out data, and shipped a live portal for SMEs, lenders and admins.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10607040" cy="64008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1821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39688"/>
                </a:solidFill>
                <a:latin typeface="Calibri"/>
              </a:rPr>
              <a:t>Highest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18211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Pilot with partner lenders on real SME ledgers.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94759"/>
            <a:ext cx="10607040" cy="64008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5935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39688"/>
                </a:solidFill>
                <a:latin typeface="Calibri"/>
              </a:rPr>
              <a:t>Authority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59351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TRA (TIN &amp; EFD) and NIDA verification for stronger trust.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10607040" cy="640080"/>
          </a:xfrm>
          <a:prstGeom prst="roundRect">
            <a:avLst>
              <a:gd name="adj" fmla="val 8000"/>
            </a:avLst>
          </a:prstGeom>
          <a:solidFill>
            <a:srgbClr val="0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736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39688"/>
                </a:solidFill>
                <a:latin typeface="Calibri"/>
              </a:rPr>
              <a:t>Before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73659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Managed database, hosting hardening, and ongoing model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39688"/>
                </a:solidFill>
                <a:latin typeface="Calibri"/>
              </a:rPr>
              <a:t>Asanteni  ·  Questions and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5943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B8D0C8"/>
                </a:solidFill>
                <a:latin typeface="Calibri"/>
              </a:rPr>
              <a:t>9  /  9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1110</Words>
  <Application>Microsoft Office PowerPoint</Application>
  <PresentationFormat>Widescreen</PresentationFormat>
  <Paragraphs>193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Raymond Tungaraza</cp:lastModifiedBy>
  <cp:revision>3</cp:revision>
  <dcterms:created xsi:type="dcterms:W3CDTF">2013-01-27T09:14:16Z</dcterms:created>
  <dcterms:modified xsi:type="dcterms:W3CDTF">2026-07-30T07:32:48Z</dcterms:modified>
  <cp:category/>
</cp:coreProperties>
</file>