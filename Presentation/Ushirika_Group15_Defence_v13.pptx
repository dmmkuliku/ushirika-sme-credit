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EASTERN AFRICA STATISTICAL TRAINING CENTRE  ·  CAPSTONE PROJECT DEFENCE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300"/>
              </a:spcAft>
            </a:pPr>
            <a:r>
              <a:rPr sz="28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PRESENTED BY — GROUP 15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Herman Edward Mkumbwa  ·  Raymond Elphance Tungaraza  ·  Edwin Celestin Silayo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Grace Joachim Mohammed  ·  Priscila Nestor Mpembela</a:t>
            </a:r>
          </a:p>
          <a:p>
            <a:pPr algn="l">
              <a:spcAft>
                <a:spcPts val="300"/>
              </a:spcAft>
            </a:pPr>
            <a:endParaRPr sz="1300" b="0">
              <a:solidFill>
                <a:srgbClr val="B8D0C8"/>
              </a:solidFill>
              <a:latin typeface="Calibri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SUPERVISOR: Mr. Rajabu Msangi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8D0C8"/>
                </a:solidFill>
                <a:latin typeface="Calibri"/>
              </a:rPr>
              <a:t>Bachelor of Data Science (Year III)  ·  Academic Year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9BC4BA"/>
                </a:solidFill>
                <a:latin typeface="Calibri"/>
              </a:rPr>
              <a:t>Live portal: ushirika-sme-portal.vercel.app   ·   API: ushirika-api.onrender.com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126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100" b="0">
                <a:solidFill>
                  <a:srgbClr val="B8D0C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Why Tanzanian SMEs still struggle to get fair credit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Grounded in the Group 15 problem statement (Section 1.2)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Collateral-heavy credit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Banks still rely on collateral and formal statements that most Tanzanian SMEs do not have.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554480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1828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Static risk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Backward-looking ratios misclassify viable businesses operating in informal or semi-formal supply chains.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09728" cy="19659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Unused transaction signals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Buyer–supplier payment behaviour is rich risk data, but no integrated platform captures and scores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749039"/>
            <a:ext cx="55321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3749039"/>
            <a:ext cx="109728" cy="19659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402335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402335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Missing-middle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526279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Without alternative scoring, creditworthy SMEs stay outside formal finance — the financing gap persists.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we set out to build — in clear terms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1124712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To develop an automated, data-driven ecosystem banking platform that leverages supply chain transaction data and machine learning techniques to provide accurate and inclusive credit risk assessments for SMEs in Tanzania.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01  Preprocessing &amp;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Build robust pipelines that convert raw supply-chain transactions into predictive variables.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3017520"/>
            <a:ext cx="365760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02  Compare ML vs classical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Evaluate ensemble learning (Random Forest) against classical Logistic Regression.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017520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3017520"/>
            <a:ext cx="365760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12724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03  Validate with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404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Assess reliability using Accuracy, Precision, Recall, F1 and ROC-AUC.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Ushirika — a working credit platform for SMEs and lenders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Deliverables match proposal Section 3.10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1600200"/>
            <a:ext cx="2743200" cy="5486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Vite + JS/CSS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Tabbed lender detail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EN / Kiswahili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7560" y="1600200"/>
            <a:ext cx="2743200" cy="5486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Transactions + TIN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743200" cy="54864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RF (primary) + LR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80/20 train–test +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9260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600200"/>
            <a:ext cx="274320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89720" y="1600200"/>
            <a:ext cx="2743200" cy="5486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0" y="171907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Data &amp; Ethics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37744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HMAC PII hashes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25% outlier rule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Conservative loans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9834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Proposal fulfilment: operational ML backend · Vite interactive portal · technical performance report.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Lender workflow: progressive NIDA search → SME profile (incl. TIN) → tabs for ML metrics, signals, txs, history.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What the literature establishes, and what it leaves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1848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Random Forests capture non-linear patterns better than single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86000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Ensemble classifiers outperform classical baselines on credit-scoring benchmarks.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6323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17296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42899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Transactional / alternative data can proxy creditworthiness where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79"/>
            <a:ext cx="67665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950207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39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A5E66"/>
                </a:solidFill>
                <a:latin typeface="Calibri"/>
              </a:rPr>
              <a:t>Value-chain financing uses buyer–supplier relationships instead of collateral alone.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508760"/>
            <a:ext cx="4206240" cy="42976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6679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THE GAP (TZ context)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2240280"/>
            <a:ext cx="374903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Few integrated platforms join live SME transactions with ML scoring.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Most benchmarks use developed-market data, not informal Tanzanian chains.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Supply-chain signals remain under-used as alternative credit metrics.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•  Ushirika operationalises that gap as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we trained and tested the models fairly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Features from payment behaviour, volume, delays, partner diversity, intervals.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80/20 stratified train_test_split (random_state=42).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Models fit on training fold only; GridSearchCV (ROC-AUC).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metrics on unseen test set: Acc, Precision, Recall, F1, ROC-AUC.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Live SME histories are mixed into retrain after enough transactions.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Outlier rule: rare large deals (&lt;25% of txs) are excluded from loan sizing; frequent large deals count as pattern.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Baseline: Logistic Regression + StandardScaler.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Primary: Random Forest Classifier (ensemble).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Selection metric: ROC-AUC on hold-out test data.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Artifacts: .joblib models + model_meta.json.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Runtime: CreditPredictor maps probability → score (~300–680).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Risk bands: Low ≥580 · Medium 480–579 · High &lt;480.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Raw supply-chain data → predictive variables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Payment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Consistency of completed payments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Delay &amp; on-time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Average/max delay; payments within due window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55448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38160" y="155448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Volume &amp; frequency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Turnover (TZS), deals per month, volume trend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Partner diversity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Unique counterparties / transaction mix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Interval risk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Average days between consecutive deals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703320"/>
            <a:ext cx="36576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138160" y="3703320"/>
            <a:ext cx="3657600" cy="109728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12480" y="40690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B3D2E"/>
                </a:solidFill>
                <a:latin typeface="Calibri"/>
              </a:rPr>
              <a:t>Outlier handling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1772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25% frequency guard: rare spikes excluded from loan; pattern large deals kept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Ensemble Random Forest outperforms classical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91440" cy="1234440"/>
          </a:xfrm>
          <a:prstGeom prst="rect">
            <a:avLst/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88.5%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ROC-AUC (primary)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554480"/>
            <a:ext cx="91440" cy="123444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84.2%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RF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1554480"/>
            <a:ext cx="91440" cy="1234440"/>
          </a:xfrm>
          <a:prstGeom prst="rect">
            <a:avLst/>
          </a:prstGeom>
          <a:solidFill>
            <a:srgbClr val="8A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1755648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75.4%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19456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LR ROC-AUC (baseline)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554480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1554480"/>
            <a:ext cx="91440" cy="123444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464040" y="1755648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>
                <a:solidFill>
                  <a:srgbClr val="0B3D2E"/>
                </a:solidFill>
                <a:latin typeface="Calibri"/>
              </a:rPr>
              <a:t>RF wins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19456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4A5E66"/>
                </a:solidFill>
                <a:latin typeface="Calibri"/>
              </a:rPr>
              <a:t>Outperforms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4712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3D2E"/>
                </a:solidFill>
                <a:latin typeface="Calibri"/>
              </a:rPr>
              <a:t>Hold-out comparison (seed=42) — metrics from model_meta.json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49039"/>
            <a:ext cx="10698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Random Forest: Accuracy 84.2% · Precision 85.7% · Recall 52.9% · F1 65.5% · ROC-AUC 88.5%.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Logistic Regression: Accuracy 74.6% · Precision 64.0% · Recall 23.5% · F1 34.4% · ROC-AUC 75.4%.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This answers Research Question 2: ensemble learning improves classification relative to classical regression on this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400" b="0">
                <a:solidFill>
                  <a:srgbClr val="0F2830"/>
                </a:solidFill>
                <a:latin typeface="Calibri"/>
              </a:rPr>
              <a:t>•  Evidence is reproducible via scripts/train_model.py and stored artifacts under Backend/models/.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FINDINGS — OBJECTIVE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Industry-standard metrics support an objective scoring process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RELIABILITY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9456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Hold-out ROC-AUC, Accuracy, Precision, Recall, F1 reported for both models.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k-fold GridSearchCV on the training split reduces overfitting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Minimum 5 transactions before an SME is scored.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Conservative score mapping (~300–680) and explicit risk bands.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Financing capped at ~50% of typical (non-outlier) volume — reduces unpaid-loan risk.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Technical Performance Report documents honesty of evaluation.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RUNTIME OUTPUTS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Credit score + risk band (Low / Medium / High).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Eligible financing (TZS) with 25% outlier-aware caps.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Crucial score signals only (not every engineered feature).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Lender: progressive NIDA search + tabbed SME analytics.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TIN shown on SME profile (SME + Lender views).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Bilingual portal (English / Kiswahili) end-to-end.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RESULTS AGAINST 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All three specific objectives were achieved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96596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830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Preprocessing &amp; feature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945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Transaction pipelines produce 13 engineered predictors + outlier flags used for scoring and financing.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01168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07040" y="202996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640080" cy="12801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004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Ensemble vs classical regression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6118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RF and LR trained on identical split; RF wins on ROC-AUC (88.5% vs 75.4%).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42900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607040" y="34472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89120"/>
            <a:ext cx="1124712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389120"/>
            <a:ext cx="640080" cy="12801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6177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Industry-standard evaluation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4A5E66"/>
                </a:solidFill>
                <a:latin typeface="Calibri"/>
              </a:rPr>
              <a:t>Accuracy, Precision, Recall, F1, ROC-AUC stored and used to select the primary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846320"/>
            <a:ext cx="777240" cy="292608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07040" y="48646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A7A6D"/>
                </a:solidFill>
                <a:latin typeface="Calibri"/>
              </a:rPr>
              <a:t>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66928"/>
            <a:ext cx="91440" cy="438912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600" b="1">
                <a:solidFill>
                  <a:srgbClr val="0B3D2E"/>
                </a:solidFill>
                <a:latin typeface="Georgia"/>
              </a:rPr>
              <a:t>How findings compare with the literature — and remaining limits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5778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CONFIRMED IN OUR 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4884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Breiman / Lessmann: ensemble RF beats linear LR on this credit task.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Khandani: transaction behaviour can score SMEs without full statements.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Klapper: value-chain style signals (counterparties, intervals, volume) support lending decisions.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Altman tradition extended: from static ratios to dynamic behavioural classification.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7A6D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Prototype scope — not yet a full bank production system.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Training still relies partly on synthetic bootstrap when live SMEs are few.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Need larger, multi-sector Tanzanian transaction panels.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XGBoost/GBM, live ERP connectors, stronger model monitoring.</a:t>
            </a:r>
          </a:p>
          <a:p>
            <a:pPr algn="l">
              <a:spcBef>
                <a:spcPts val="400"/>
              </a:spcBef>
              <a:spcAft>
                <a:spcPts val="400"/>
              </a:spcAft>
            </a:pPr>
            <a:r>
              <a:rPr sz="1300" b="0">
                <a:solidFill>
                  <a:srgbClr val="0F2830"/>
                </a:solidFill>
                <a:latin typeface="Calibri"/>
              </a:rPr>
              <a:t>•  Future: formal NIDA verification and managed Postgres.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6539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USHIRIKA — SME VALUE CHAIN CREDIT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000" b="0">
                <a:solidFill>
                  <a:srgbClr val="B8D0C8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Ushirika is a working prototype that turns supply-chain transactions into objective credit scores — with real train/test ML, RF vs LR evidence, and a live portal for Mfanyabiashara, Afisa mikopo, and Admin.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320040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Pilot with partner lenders on real SME ledgers and monitor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Adopt incrementally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977639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Start with one supply-chain vertical before nationwide rollout.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548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Managed database, stronger identity checks, and continuous model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943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00"/>
              </a:spcAft>
            </a:pPr>
            <a:r>
              <a:rPr sz="1200" b="0">
                <a:solidFill>
                  <a:srgbClr val="B8D0C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1487</Words>
  <Application>Microsoft Office PowerPoint</Application>
  <PresentationFormat>Widescreen</PresentationFormat>
  <Paragraphs>198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Raymond Tungaraza</cp:lastModifiedBy>
  <cp:revision>1</cp:revision>
  <dcterms:created xsi:type="dcterms:W3CDTF">2013-01-27T09:14:16Z</dcterms:created>
  <dcterms:modified xsi:type="dcterms:W3CDTF">2026-07-19T23:18:20Z</dcterms:modified>
  <cp:category/>
</cp:coreProperties>
</file>