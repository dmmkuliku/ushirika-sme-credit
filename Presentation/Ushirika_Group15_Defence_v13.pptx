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239688"/>
                </a:solidFill>
                <a:latin typeface="Calibri"/>
              </a:rPr>
              <a:t>EASTERN AFRICA STATISTICAL TRAINING CENTRE  ·  CAPSTONE PROJECT DEFENCE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4300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FFFFFF"/>
                </a:solidFill>
                <a:latin typeface="Georgia"/>
              </a:rPr>
              <a:t>Development of a Machine Learning-Based</a:t>
            </a:r>
          </a:p>
          <a:p>
            <a:pPr algn="l">
              <a:spcAft>
                <a:spcPts val="300"/>
              </a:spcAft>
            </a:pPr>
            <a:r>
              <a:rPr sz="2800" b="1">
                <a:solidFill>
                  <a:srgbClr val="FFFFFF"/>
                </a:solidFill>
                <a:latin typeface="Georgia"/>
              </a:rPr>
              <a:t>Credit Risk Assessment Model for SME</a:t>
            </a:r>
          </a:p>
          <a:p>
            <a:pPr algn="l">
              <a:spcAft>
                <a:spcPts val="300"/>
              </a:spcAft>
            </a:pPr>
            <a:r>
              <a:rPr sz="2800" b="1">
                <a:solidFill>
                  <a:srgbClr val="FFFFFF"/>
                </a:solidFill>
                <a:latin typeface="Georgia"/>
              </a:rPr>
              <a:t>Value Chain Financing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14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E6EEF0"/>
                </a:solidFill>
                <a:latin typeface="Calibri"/>
              </a:rPr>
              <a:t>A Case Study of Tanzania’s Supply Chains  ·  Platform: Ushirika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10896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B8D0C8"/>
                </a:solidFill>
                <a:latin typeface="Calibri"/>
              </a:rPr>
              <a:t>PRESENTED BY — GROUP 15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8D0C8"/>
                </a:solidFill>
                <a:latin typeface="Calibri"/>
              </a:rPr>
              <a:t>Herman Edward Mkumbwa  ·  Raymond Elphance Tungaraza  ·  Edwin Celestin Silayo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8D0C8"/>
                </a:solidFill>
                <a:latin typeface="Calibri"/>
              </a:rPr>
              <a:t>Grace Joachim Mohammed  ·  Priscila Nestor Mpembela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8D0C8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8D0C8"/>
                </a:solidFill>
                <a:latin typeface="Calibri"/>
              </a:rPr>
              <a:t>SUPERVISOR: Mr. Rajabu Msangi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8D0C8"/>
                </a:solidFill>
                <a:latin typeface="Calibri"/>
              </a:rPr>
              <a:t>Bachelor of Data Science (Year III)  ·  Academic Year 2025/2026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12648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9BC4BA"/>
                </a:solidFill>
                <a:latin typeface="Calibri"/>
              </a:rPr>
              <a:t>Live portal: ushirika-sme-portal.vercel.app   ·   API: ushirika-api.onrender.com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1264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100" b="0">
                <a:solidFill>
                  <a:srgbClr val="B8D0C8"/>
                </a:solidFill>
                <a:latin typeface="Calibri"/>
              </a:rPr>
              <a:t>1  / 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BACKGROUND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Why Tanzanian SMEs still struggle to get fair credit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5156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Grounded in the Group 15 problem statement (Section 1.2)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554480"/>
            <a:ext cx="553212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554480"/>
            <a:ext cx="109728" cy="196596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A7A6D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Collateral-heavy credit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33172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Banks still rely on collateral and formal statements that most Tanzanian SMEs do not have.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554480"/>
            <a:ext cx="553212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1554480"/>
            <a:ext cx="109728" cy="196596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18288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A7A6D"/>
                </a:solidFill>
                <a:latin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60920" y="18288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Static risk metrics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233172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Backward-looking ratios misclassify viable businesses operating in informal or semi-formal supply chains.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749039"/>
            <a:ext cx="553212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749039"/>
            <a:ext cx="109728" cy="196596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023359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A7A6D"/>
                </a:solidFill>
                <a:latin typeface="Calibr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23359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Unused transaction signals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526279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Buyer–supplier payment behaviour is rich risk data, but no integrated platform captures and scores it.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3749039"/>
            <a:ext cx="553212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63640" y="3749039"/>
            <a:ext cx="109728" cy="196596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29400" y="4023359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A7A6D"/>
                </a:solidFill>
                <a:latin typeface="Calibr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60920" y="4023359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Missing-middle gap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4526279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Without alternative scoring, creditworthy SMEs stay outside formal finance — the financing gap persists.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2  / 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AIM OF THE PROJECT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What we set out to build — in clear terms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08760"/>
            <a:ext cx="1124712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45920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A7A6D"/>
                </a:solidFill>
                <a:latin typeface="Calibri"/>
              </a:rPr>
              <a:t>GENERAL OBJECTIVE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96596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0F2830"/>
                </a:solidFill>
                <a:latin typeface="Calibri"/>
              </a:rPr>
              <a:t>To develop an automated, data-driven ecosystem banking platform that leverages supply chain transaction data and machine learning techniques to provide accurate and inclusive credit risk assessments for SMEs in Tanzania.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017520"/>
            <a:ext cx="3657600" cy="2834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3017520"/>
            <a:ext cx="3657600" cy="59436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12724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01  Preprocessing &amp; features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0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Build robust pipelines that convert raw supply-chain transactions into predictive variables.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3017520"/>
            <a:ext cx="3657600" cy="2834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97680" y="3017520"/>
            <a:ext cx="3657600" cy="59436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0560" y="312724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02  Compare ML vs classical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3840480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Evaluate ensemble learning (Random Forest) against classical Logistic Regression.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3017520"/>
            <a:ext cx="3657600" cy="2834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38160" y="3017520"/>
            <a:ext cx="3657600" cy="59436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40" y="312724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03  Validate with metrics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3840480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Assess reliability using Accuracy, Precision, Recall, F1 and ROC-AUC.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3  / 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WHAT WAS BUILT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Ushirika — a working credit platform for SMEs and lenders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5156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Deliverables match proposal Section 3.10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600200"/>
            <a:ext cx="274320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600200"/>
            <a:ext cx="2743200" cy="54864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71907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Frontend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37744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Vite + JS/CSS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SME · Lender · Admin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Per-SME ML metrics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on lender detail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92608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A7A6D"/>
                </a:solidFill>
                <a:latin typeface="Calibr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37560" y="1600200"/>
            <a:ext cx="274320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37560" y="1600200"/>
            <a:ext cx="2743200" cy="54864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0" y="171907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API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237744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FastAPI + JWT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Transactions + TIN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Role-based access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292608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A7A6D"/>
                </a:solidFill>
                <a:latin typeface="Calibri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1600200"/>
            <a:ext cx="274320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63640" y="1600200"/>
            <a:ext cx="2743200" cy="548640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171907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ML 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37744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Feature engineering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RF (primary) + LR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80/20 train–test + CV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0" y="292608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A7A6D"/>
                </a:solidFill>
                <a:latin typeface="Calibri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89720" y="1600200"/>
            <a:ext cx="274320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89720" y="1600200"/>
            <a:ext cx="2743200" cy="5486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0" y="171907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Data &amp; Ethics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18320" y="237744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SQL storage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HMAC PII hashes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Outlier-aware financing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4983480"/>
            <a:ext cx="11155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Proposal fulfilment: operational ML backend · Vite interactive portal · technical performance report.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Lender workflow: select an SME → see ML score, creditworthy probability, and feature signals from that SME’s data.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4  / 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LITERATURE REVIEW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What the literature establishes, and what it leaves out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08760"/>
            <a:ext cx="67665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18488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B3D2E"/>
                </a:solidFill>
                <a:latin typeface="Calibri"/>
              </a:rPr>
              <a:t>Breiman (2001)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45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4A5E66"/>
                </a:solidFill>
                <a:latin typeface="Calibri"/>
              </a:rPr>
              <a:t>Ensemble Random Forests capture non-linear patterns better than single models.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86000"/>
            <a:ext cx="67665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395728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B3D2E"/>
                </a:solidFill>
                <a:latin typeface="Calibri"/>
              </a:rPr>
              <a:t>Lessmann et al. (2015)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65176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4A5E66"/>
                </a:solidFill>
                <a:latin typeface="Calibri"/>
              </a:rPr>
              <a:t>Ensemble classifiers outperform classical baselines on credit-scoring benchmarks.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063239"/>
            <a:ext cx="67665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172967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B3D2E"/>
                </a:solidFill>
                <a:latin typeface="Calibri"/>
              </a:rPr>
              <a:t>Khandani et al. (2010)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428999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4A5E66"/>
                </a:solidFill>
                <a:latin typeface="Calibri"/>
              </a:rPr>
              <a:t>Transactional / alternative data can proxy creditworthiness where statements are thin.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840479"/>
            <a:ext cx="67665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950207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B3D2E"/>
                </a:solidFill>
                <a:latin typeface="Calibri"/>
              </a:rPr>
              <a:t>Klapper (2006)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206239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4A5E66"/>
                </a:solidFill>
                <a:latin typeface="Calibri"/>
              </a:rPr>
              <a:t>Value-chain financing uses buyer–supplier relationships instead of collateral alone.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98079" y="1508760"/>
            <a:ext cx="4206240" cy="4297680"/>
          </a:xfrm>
          <a:prstGeom prst="roundRect">
            <a:avLst>
              <a:gd name="adj" fmla="val 8000"/>
            </a:avLst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26679" y="1737360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239688"/>
                </a:solidFill>
                <a:latin typeface="Calibri"/>
              </a:rPr>
              <a:t>THE GAP (TZ context)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26679" y="2240280"/>
            <a:ext cx="3749039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•  Few integrated platforms join live SME transactions with ML scoring.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•  Most benchmarks use developed-market data, not informal Tanzanian chains.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•  Supply-chain signals remain under-used as alternative credit metrics.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•  Ushirika operationalises that gap as a working prototype.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5  / 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EVALUATION METHOD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How we trained and tested the models fairly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08760"/>
            <a:ext cx="557784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9164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7A6D"/>
                </a:solidFill>
                <a:latin typeface="Calibri"/>
              </a:rPr>
              <a:t>TRAINING PROTOCOL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4884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Features from payment behaviour, volume, delays, partner diversity, intervals.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80/20 stratified train_test_split (random_state=42).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Models fit on training fold only; GridSearchCV (ROC-AUC).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Hold-out metrics on unseen test set: Acc, Precision, Recall, F1, ROC-AUC.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Live SME histories are mixed into retrain after enough transactions.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Outliers are flagged; financing caps use typical volume, not one-off spikes.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08760"/>
            <a:ext cx="539496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69164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7A6D"/>
                </a:solidFill>
                <a:latin typeface="Calibri"/>
              </a:rPr>
              <a:t>TWO MODELS COMPARED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148840"/>
            <a:ext cx="49377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Baseline: Logistic Regression + StandardScaler.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Primary: Random Forest Classifier (ensemble).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Selection metric: ROC-AUC on hold-out test data.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Artifacts: .joblib models + model_meta.json.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Runtime: CreditPredictor maps probability → score (~300–680).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Risk bands: Low ≥580 · Medium 480–579 · High &lt;480.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6  / 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FINDINGS — OBJECTIVE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Raw supply-chain data → predictive variables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36576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3657600" cy="10972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92024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3D2E"/>
                </a:solidFill>
                <a:latin typeface="Calibri"/>
              </a:rPr>
              <a:t>Payment reliability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6888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Consistency of completed payments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554480"/>
            <a:ext cx="36576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97680" y="1554480"/>
            <a:ext cx="3657600" cy="10972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192024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3D2E"/>
                </a:solidFill>
                <a:latin typeface="Calibri"/>
              </a:rPr>
              <a:t>Delay &amp; on-time rates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46888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Average/max delay; payments within due window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554480"/>
            <a:ext cx="36576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38160" y="1554480"/>
            <a:ext cx="3657600" cy="10972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192024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3D2E"/>
                </a:solidFill>
                <a:latin typeface="Calibri"/>
              </a:rPr>
              <a:t>Volume &amp; frequency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246888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Turnover (TZS), deals per month, volume trend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03320"/>
            <a:ext cx="36576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703320"/>
            <a:ext cx="3657600" cy="10972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06908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3D2E"/>
                </a:solidFill>
                <a:latin typeface="Calibri"/>
              </a:rPr>
              <a:t>Partner diversity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61772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Unique counterparties / transaction mix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0" y="3703320"/>
            <a:ext cx="36576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97680" y="3703320"/>
            <a:ext cx="3657600" cy="10972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0" y="406908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3D2E"/>
                </a:solidFill>
                <a:latin typeface="Calibri"/>
              </a:rPr>
              <a:t>Interval risk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461772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Average days between consecutive deals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38160" y="3703320"/>
            <a:ext cx="36576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38160" y="3703320"/>
            <a:ext cx="3657600" cy="10972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0" y="406908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3D2E"/>
                </a:solidFill>
                <a:latin typeface="Calibri"/>
              </a:rPr>
              <a:t>Outlier handling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461772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IQR flags unusual large deals for lending caps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7  / 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FINDINGS — OBJECTIVE 2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Ensemble Random Forest outperforms classical Logistic Regression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274320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91440" cy="1234440"/>
          </a:xfrm>
          <a:prstGeom prst="rect">
            <a:avLst/>
          </a:prstGeom>
          <a:solidFill>
            <a:srgbClr val="1A6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755648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B3D2E"/>
                </a:solidFill>
                <a:latin typeface="Calibri"/>
              </a:rPr>
              <a:t>88.5%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94560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4A5E66"/>
                </a:solidFill>
                <a:latin typeface="Calibri"/>
              </a:rPr>
              <a:t>RF ROC-AUC (primary)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1554480"/>
            <a:ext cx="274320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83280" y="1554480"/>
            <a:ext cx="91440" cy="123444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11880" y="1755648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B3D2E"/>
                </a:solidFill>
                <a:latin typeface="Calibri"/>
              </a:rPr>
              <a:t>84.2%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1880" y="2194560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4A5E66"/>
                </a:solidFill>
                <a:latin typeface="Calibri"/>
              </a:rPr>
              <a:t>RF Accuracy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554480"/>
            <a:ext cx="274320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1554480"/>
            <a:ext cx="91440" cy="1234440"/>
          </a:xfrm>
          <a:prstGeom prst="rect">
            <a:avLst/>
          </a:prstGeom>
          <a:solidFill>
            <a:srgbClr val="8A5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1755648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B3D2E"/>
                </a:solidFill>
                <a:latin typeface="Calibri"/>
              </a:rPr>
              <a:t>75.4%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2194560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4A5E66"/>
                </a:solidFill>
                <a:latin typeface="Calibri"/>
              </a:rPr>
              <a:t>LR ROC-AUC (baseline)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35440" y="1554480"/>
            <a:ext cx="246888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235440" y="1554480"/>
            <a:ext cx="91440" cy="123444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64040" y="1755648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B3D2E"/>
                </a:solidFill>
                <a:latin typeface="Calibri"/>
              </a:rPr>
              <a:t>RF wins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64040" y="2194560"/>
            <a:ext cx="2148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4A5E66"/>
                </a:solidFill>
                <a:latin typeface="Calibri"/>
              </a:rPr>
              <a:t>Outperforms baseline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063240"/>
            <a:ext cx="11247120" cy="2834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32461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3D2E"/>
                </a:solidFill>
                <a:latin typeface="Calibri"/>
              </a:rPr>
              <a:t>Hold-out comparison (seed=42) — metrics from model_meta.json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3749039"/>
            <a:ext cx="106984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400" b="0">
                <a:solidFill>
                  <a:srgbClr val="0F2830"/>
                </a:solidFill>
                <a:latin typeface="Calibri"/>
              </a:rPr>
              <a:t>•  Random Forest: Accuracy 84.2% · Precision 85.7% · Recall 52.9% · F1 65.5% · ROC-AUC 88.5%.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400" b="0">
                <a:solidFill>
                  <a:srgbClr val="0F2830"/>
                </a:solidFill>
                <a:latin typeface="Calibri"/>
              </a:rPr>
              <a:t>•  Logistic Regression: Accuracy 74.6% · Precision 64.0% · Recall 23.5% · F1 34.4% · ROC-AUC 75.4%.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400" b="0">
                <a:solidFill>
                  <a:srgbClr val="0F2830"/>
                </a:solidFill>
                <a:latin typeface="Calibri"/>
              </a:rPr>
              <a:t>•  This answers Research Question 2: ensemble learning improves classification relative to classical regression on this task.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400" b="0">
                <a:solidFill>
                  <a:srgbClr val="0F2830"/>
                </a:solidFill>
                <a:latin typeface="Calibri"/>
              </a:rPr>
              <a:t>•  Evidence is reproducible via scripts/train_model.py and stored artifacts under Backend/models/.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8  / 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FINDINGS — OBJECTIVE 3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Industry-standard metrics support an objective scoring process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557784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7A6D"/>
                </a:solidFill>
                <a:latin typeface="Calibri"/>
              </a:rPr>
              <a:t>RELIABILITY CONTROLS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Hold-out ROC-AUC, Accuracy, Precision, Recall, F1 reported for both models.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k-fold GridSearchCV on the training split reduces overfitting risk.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Minimum 5 transactions before an SME is scored.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Conservative score mapping (~300–680) and explicit risk bands.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Financing never exceeds typical (non-outlier) capacity — realistic lending.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Technical Performance Report documents honesty of evaluation.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54480"/>
            <a:ext cx="539496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73736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7A6D"/>
                </a:solidFill>
                <a:latin typeface="Calibri"/>
              </a:rPr>
              <a:t>RUNTIME OUTPUTS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194560"/>
            <a:ext cx="49377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Credit score + risk band (Low / Medium / High).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Eligible financing (TZS) with outlier-aware caps.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Human-readable score components for explainability.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Lender portfolio view by NIDA / membership ID.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Admin governance for accounts and PIN reset.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Bilingual portal (English / Kiswahili).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9  / 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RESULTS AGAINST AIM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All three specific objectives were achieved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1124712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640080" cy="128016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96596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78308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Preprocessing &amp; feature engineering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19456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Transaction pipelines produce 13 engineered predictors + outlier flags used for scoring and financing.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607040" y="2011680"/>
            <a:ext cx="777240" cy="292608"/>
          </a:xfrm>
          <a:prstGeom prst="roundRect">
            <a:avLst>
              <a:gd name="adj" fmla="val 8000"/>
            </a:avLst>
          </a:prstGeom>
          <a:solidFill>
            <a:srgbClr val="1A6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07040" y="2029968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MET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4712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971800"/>
            <a:ext cx="640080" cy="128016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38328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2004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Ensemble vs classical regression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361188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RF and LR trained on identical split; RF wins on ROC-AUC (88.5% vs 75.4%).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607040" y="3429000"/>
            <a:ext cx="777240" cy="292608"/>
          </a:xfrm>
          <a:prstGeom prst="roundRect">
            <a:avLst>
              <a:gd name="adj" fmla="val 8000"/>
            </a:avLst>
          </a:prstGeom>
          <a:solidFill>
            <a:srgbClr val="1A6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07040" y="3447288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MET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389120"/>
            <a:ext cx="1124712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4389120"/>
            <a:ext cx="640080" cy="128016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80060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46177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Industry-standard evaluation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502920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Accuracy, Precision, Recall, F1, ROC-AUC stored and used to select the primary model.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607040" y="4846320"/>
            <a:ext cx="777240" cy="292608"/>
          </a:xfrm>
          <a:prstGeom prst="roundRect">
            <a:avLst>
              <a:gd name="adj" fmla="val 8000"/>
            </a:avLst>
          </a:prstGeom>
          <a:solidFill>
            <a:srgbClr val="1A6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607040" y="4864608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MET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10  / 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DISCUSSION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How findings compare with the literature — and remaining limits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08760"/>
            <a:ext cx="557784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9164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7A6D"/>
                </a:solidFill>
                <a:latin typeface="Calibri"/>
              </a:rPr>
              <a:t>CONFIRMED IN OUR PROTOTYPE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4884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Breiman / Lessmann: ensemble RF beats linear LR on this credit task.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Khandani: transaction behaviour can score SMEs without full statements.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Klapper: value-chain style signals (counterparties, intervals, volume) support lending decisions.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Altman tradition extended: from static ratios to dynamic behavioural classification.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08760"/>
            <a:ext cx="539496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69164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7A6D"/>
                </a:solidFill>
                <a:latin typeface="Calibri"/>
              </a:rPr>
              <a:t>LIMITATIONS &amp; NEXT STEPS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148840"/>
            <a:ext cx="49377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Prototype scope — not yet a full bank production system.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Training still relies partly on synthetic bootstrap when live SMEs are few.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Need larger, multi-sector Tanzanian transaction panels.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Future: XGBoost/GBM, live ERP connectors, stronger model monitoring.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Future: formal NIDA verification and managed Postgres.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11  / 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239688"/>
                </a:solidFill>
                <a:latin typeface="Calibri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>
                <a:solidFill>
                  <a:srgbClr val="FFFFFF"/>
                </a:solidFill>
                <a:latin typeface="Georgia"/>
              </a:rPr>
              <a:t>The general objective was met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6596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E6EEF0"/>
                </a:solidFill>
                <a:latin typeface="Calibri"/>
              </a:rPr>
              <a:t>Ushirika is a working prototype that turns supply-chain transactions into objective credit scores — with real train/test ML, RF vs LR evidence, and a live portal for Mfanyabiashara, Afisa mikopo, and Admin.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004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239688"/>
                </a:solidFill>
                <a:latin typeface="Calibri"/>
              </a:rPr>
              <a:t>Highest priority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3200400"/>
            <a:ext cx="7589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Pilot with partner lenders on real SME ledgers and monitor drift.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977639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239688"/>
                </a:solidFill>
                <a:latin typeface="Calibri"/>
              </a:rPr>
              <a:t>Adopt incrementally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9039" y="3977639"/>
            <a:ext cx="7589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Start with one supply-chain vertical before nationwide rollout.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754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239688"/>
                </a:solidFill>
                <a:latin typeface="Calibri"/>
              </a:rPr>
              <a:t>Before production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4754880"/>
            <a:ext cx="7589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Managed database, stronger identity checks, and continuous model audit.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943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239688"/>
                </a:solidFill>
                <a:latin typeface="Calibri"/>
              </a:rPr>
              <a:t>Asanteni  ·  Questions and discussion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59436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>
                <a:solidFill>
                  <a:srgbClr val="B8D0C8"/>
                </a:solidFill>
                <a:latin typeface="Calibri"/>
              </a:rPr>
              <a:t>12  / 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