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73152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EASTERN AFRICA STATISTICAL TRAINING CENTRE (EASTC)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00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EF0"/>
                </a:solidFill>
                <a:latin typeface="Calibri"/>
              </a:rPr>
              <a:t>Capstone Project Defence  ·  Bachelor of Data Science (Year III)  · 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D8E8E4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676656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GROUP 15  ·  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Herman Edward Mkumbwa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Raymond Elphance Tungaraza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Edwin Celestin Silayo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Grace Joachim Mohammed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Priscila Nestor Mpembela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26080"/>
            <a:ext cx="3931920" cy="260604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4747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Mr. Rajabu Msangi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1605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9688"/>
                </a:solidFill>
                <a:latin typeface="Calibri"/>
              </a:rPr>
              <a:t>LIVE PROJECT 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ushirika-sme-portal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8E8E4"/>
                </a:solidFill>
                <a:latin typeface="Calibri"/>
              </a:rPr>
              <a:t>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https://ushirika-sme-portal.vercel.app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126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1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2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9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Why many Tanzanian SMEs still struggle to get fair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Collateral-heavy lending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Banks still ask for collateral and formal statements that most small traders simply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Static risk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77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Old financial ratios often miss healthy businesses that work in informal or semi-formal supply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794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Unused 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How buyers and suppliers actually pay is useful risk data — but few systems capture and use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69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The missing middle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634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Without another way to score them, good SMEs stay locked out of formal finance.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we set out to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13385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128016" cy="13258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Build a working platform that reads supply-chain transactions and uses machine learning to give fairer, clearer credit risk scores for Tanzanian SMEs.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01  Features from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Turn raw supply-chain transactions into useful predictors.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60" y="3063240"/>
            <a:ext cx="3657600" cy="640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02  Compare two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Test Random Forest against Logistic Regression.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03  Prove with 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977639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Judge quality with Accuracy, Precision, Recall, F1 and ROC-AUC.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Ushirika — a live credit platform for SMEs and lenders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8892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Vite portal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78892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Secure login flows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08760"/>
            <a:ext cx="2788920" cy="59436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RF (main) + LR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Plain repayment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81160" y="1508760"/>
            <a:ext cx="2788920" cy="59436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Data &amp;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Careful loan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75488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Lenders can search an SME, open the profile, and see score, risk band, plain signals and history.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Registration already checks NIDA against date of birth, and uses region and district lists.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The same portal works on desktop and on 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What prior work shows — and what is still missing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270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Random Forests handle non-linear patterns better than a single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7744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Ensemble classifiers beat classical baselines in credit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33756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Transaction data can stand in for creditworthiness when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29768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Value-chain finance leans on buyer–supplier links, not only collateral.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417320"/>
            <a:ext cx="4297680" cy="448056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THE GAP IN TANZANIA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9456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Few tools join live SME transactions with ML scoring.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Most published benchmarks use developed-market data.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Local supply-chain signals are still under-used.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Ushirika turns that gap into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How we trained and tested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56235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Features from payment behaviour, volume, delays and partners.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Models fit on training data only; GridSearchCV uses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Hold-out metrics: Accuracy, Precision, Recall, F1,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An SME is scored only after at least twelve transactions.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Rare large deals are down-weighted so they do not inflate loan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Baseline: Logistic Regression with scaling.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Primary model: Random Forest Classifier.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Selection metric: hold-out ROC-AUC.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Score range about 300–850.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Risk bands: Low ≥650 · Medium 500–649 · High &lt;500.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500" b="0">
                <a:solidFill>
                  <a:srgbClr val="0F2830"/>
                </a:solidFill>
                <a:latin typeface="Calibri"/>
              </a:rPr>
              <a:t>•  Users see plain signals such as on-time payments and late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FINDINGS  ·  HOLD-OUT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Random Forest beat Logistic Regression on unseen test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From the project hold-out evaluation  ·  80/20 stratified split  ·  test n = 280 SMEs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763524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7223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Side-by-side hold-out metrics (creditworthy = positive class)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7269480" cy="384048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011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20116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1168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0116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350008"/>
            <a:ext cx="7269480" cy="502920"/>
          </a:xfrm>
          <a:prstGeom prst="rect">
            <a:avLst/>
          </a:prstGeom>
          <a:solidFill>
            <a:srgbClr val="D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450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4505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245059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93.0%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45059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85.7%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4505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89.2%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5059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71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Logistic Reg.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2971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77.9%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297180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75.8%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718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87.7%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9718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81.3%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97180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87.5%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520440"/>
            <a:ext cx="7223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Proof of choice: RF ROC-AUC is 8.3 points higher than LR (95.8% vs 87.5%).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RF also has higher accuracy (+10.7 pts) and precision (+17.2 pts) — fewer false “creditworthy” labels.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417320"/>
            <a:ext cx="3520440" cy="306324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554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RF confusion matrix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8E8E4"/>
                </a:solidFill>
                <a:latin typeface="Calibri"/>
              </a:rPr>
              <a:t>Test set: 280 SMEs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3317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D8E8E4"/>
                </a:solidFill>
                <a:latin typeface="Calibri"/>
              </a:rPr>
              <a:t>True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23317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3288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Correct higher-risk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28072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D8E8E4"/>
                </a:solidFill>
                <a:latin typeface="Calibri"/>
              </a:rPr>
              <a:t>False Positive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280720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00837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Wrongly called safe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D8E8E4"/>
                </a:solidFill>
                <a:latin typeface="Calibri"/>
              </a:rPr>
              <a:t>False Negative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328269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348386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Missed creditworthy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3758183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D8E8E4"/>
                </a:solidFill>
                <a:latin typeface="Calibri"/>
              </a:rPr>
              <a:t>True Positive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3758183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3959351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Correct creditworthy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663440"/>
            <a:ext cx="113385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What drove the RF decisions (feature importance from the same training run)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19.8%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On-time 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18.7%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Default 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8.3%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89120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Order-type mix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5.5%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Account 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59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4.6%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59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Buyer share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2680" y="5120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4.4%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2680" y="548640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D525A"/>
                </a:solidFill>
                <a:latin typeface="Calibri"/>
              </a:rPr>
              <a:t>Tx frequency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30" grpId="0" animBg="1"/>
      <p:bldP spid="4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A6D"/>
                </a:solidFill>
                <a:latin typeface="Calibri"/>
              </a:rPr>
              <a:t>RESULTS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109728" cy="47548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389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3D2E"/>
                </a:solidFill>
                <a:latin typeface="Georgia"/>
              </a:rPr>
              <a:t>Objectives met — and what must come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  Features from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Transactions become behavioural predictors used for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657600" cy="4114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  RF vs classical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RF beats LR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6576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657600" cy="4114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  Standard 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0" y="1481328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0" y="1499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D525A"/>
                </a:solidFill>
                <a:latin typeface="Calibri"/>
              </a:rPr>
              <a:t>Accuracy, Precision, Recall, F1 and ROC-AUC guide model choice.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291840"/>
            <a:ext cx="11338560" cy="274320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LIMITS &amp;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94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The portal is live, but it is still a prototype — not a bank production system. The next step is a lender pilot on real SME ledgers, plus official verification links.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TIN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TRA to verify TIN numbers so registered businesses can be confirmed.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TRA — EFD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Link EFD receipt verification so sales reported in the portal can be checked against fiscal records.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3484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NIDA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892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EF0"/>
                </a:solidFill>
                <a:latin typeface="Calibri"/>
              </a:rPr>
              <a:t>Integrate with NIDA authority to verify national ID numbers beyond the current format and DOB checks.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5653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6EEF0"/>
                </a:solidFill>
                <a:latin typeface="Calibri"/>
              </a:rPr>
              <a:t>Ushirika turns supply-chain transactions into clear credit scores. We compared Random Forest with Logistic Regression on hold-out data, and shipped a live portal for SMEs, lenders and admins.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1821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18211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Pilot with partner lenders on real SME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59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959351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Authority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959351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TRA (TIN &amp; EFD) and NIDA verification for stronger trust.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200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73659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Managed database, hosting hardening, and ongoing model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5943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9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7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1110</Words>
  <Application>Microsoft Office PowerPoint</Application>
  <PresentationFormat>Widescreen</PresentationFormat>
  <Paragraphs>193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2</cp:revision>
  <dcterms:created xsi:type="dcterms:W3CDTF">2013-01-27T09:14:16Z</dcterms:created>
  <dcterms:modified xsi:type="dcterms:W3CDTF">2026-07-30T07:09:55Z</dcterms:modified>
  <cp:category/>
</cp:coreProperties>
</file>