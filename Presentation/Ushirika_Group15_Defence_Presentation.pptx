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59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53788" y="228600"/>
            <a:ext cx="71715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86748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dirty="0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 dirty="0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 dirty="0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5151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305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— GROUP 15</a:t>
            </a:r>
            <a:endParaRPr lang="en-US" sz="1300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endParaRPr sz="1300" b="0" dirty="0">
              <a:solidFill>
                <a:srgbClr val="B8D0C8"/>
              </a:solidFill>
              <a:latin typeface="Calibri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Herman Edward Mkumbwa  </a:t>
            </a: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Raymond Elphance Tungaraza </a:t>
            </a: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Edwin Celestin Silayo</a:t>
            </a: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Grace Joachim Mohammed </a:t>
            </a: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Priscila Nestor Mpembela</a:t>
            </a: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spcAft>
                <a:spcPts val="300"/>
              </a:spcAft>
            </a:pPr>
            <a:r>
              <a:rPr lang="en-US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SUPERVISOR: Mr. Rajabu Msangi</a:t>
            </a:r>
          </a:p>
          <a:p>
            <a:pPr algn="r">
              <a:spcAft>
                <a:spcPts val="300"/>
              </a:spcAft>
            </a:pPr>
            <a:endParaRPr lang="en-US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300"/>
              </a:spcAft>
            </a:pPr>
            <a:r>
              <a:rPr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297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dirty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2537" y="635958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 dirty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6" grpId="0"/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dirty="0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34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96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580"/>
                            </p:stCondLst>
                            <p:childTnLst>
                              <p:par>
                                <p:cTn id="83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62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682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7440"/>
                            </p:stCondLst>
                            <p:childTnLst>
                              <p:par>
                                <p:cTn id="110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806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7" grpId="0" animBg="1"/>
      <p:bldP spid="8" grpId="0" animBg="1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/>
      <p:bldP spid="26" grpId="0"/>
      <p:bldP spid="27" grpId="0" animBg="1"/>
      <p:bldP spid="28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34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96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580"/>
                            </p:stCondLst>
                            <p:childTnLst>
                              <p:par>
                                <p:cTn id="83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62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 animBg="1"/>
      <p:bldP spid="7" grpId="0"/>
      <p:bldP spid="8" grpId="0"/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NIDA-DOB,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bilingual gender/business labels, live email checks, and clear forms.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34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96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580"/>
                            </p:stCondLst>
                            <p:childTnLst>
                              <p:par>
                                <p:cTn id="83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62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682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7440"/>
                            </p:stCondLst>
                            <p:childTnLst>
                              <p:par>
                                <p:cTn id="110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806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7" grpId="0" animBg="1"/>
      <p:bldP spid="8" grpId="0" animBg="1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/>
      <p:bldP spid="26" grpId="0"/>
      <p:bldP spid="27" grpId="0" animBg="1"/>
      <p:bldP spid="28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34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96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580"/>
                            </p:stCondLst>
                            <p:childTnLst>
                              <p:par>
                                <p:cTn id="83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62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34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96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580"/>
                            </p:stCondLst>
                            <p:childTnLst>
                              <p:par>
                                <p:cTn id="83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62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682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7440"/>
                            </p:stCondLst>
                            <p:childTnLst>
                              <p:par>
                                <p:cTn id="110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806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8680"/>
                            </p:stCondLst>
                            <p:childTnLst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9300"/>
                            </p:stCondLst>
                            <p:childTnLst>
                              <p:par>
                                <p:cTn id="137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 animBg="1"/>
      <p:bldP spid="23" grpId="0" animBg="1"/>
      <p:bldP spid="24" grpId="0"/>
      <p:bldP spid="25" grpId="0"/>
      <p:bldP spid="26" grpId="0" animBg="1"/>
      <p:bldP spid="27" grpId="0" animBg="1"/>
      <p:bldP spid="28" grpId="0"/>
      <p:bldP spid="29" grpId="0"/>
      <p:bldP spid="30" grpId="0" animBg="1"/>
      <p:bldP spid="31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Random Forest outperformed Logistic Regression on unseen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comparison: 280 unseen records · stratified split · seed=42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Interpretation: RF ranked higher-risk vs creditworthy cases more reliably; this supports its selection for the prototype.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  <p:transition spd="med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34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96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580"/>
                            </p:stCondLst>
                            <p:childTnLst>
                              <p:par>
                                <p:cTn id="83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62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682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7440"/>
                            </p:stCondLst>
                            <p:childTnLst>
                              <p:par>
                                <p:cTn id="110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5-fold GridSearchCV on training data only reduces leakage and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Score mapping (~300–680) uses explicit Low / Medium / High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non-outlier volume.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PII is excluded from ML features; counterparties are pseudonymised.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Creditworthy probability + indicative financing (TZS).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Explainable behavioural signals for each SME.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SME, lender, admin and sub-admin workflows.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English / Kiswahili CSV templates and manual entry.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Optional counterparty TIN supports informal trading partners.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  <p:transition spd="med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34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96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580"/>
                            </p:stCondLst>
                            <p:childTnLst>
                              <p:par>
                                <p:cTn id="83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62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682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7440"/>
                            </p:stCondLst>
                            <p:childTnLst>
                              <p:par>
                                <p:cTn id="110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806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/>
      <p:bldP spid="13" grpId="0" animBg="1"/>
      <p:bldP spid="14" grpId="0" animBg="1"/>
      <p:bldP spid="15" grpId="0"/>
      <p:bldP spid="16" grpId="0"/>
      <p:bldP spid="17" grpId="0"/>
      <p:bldP spid="18" grpId="0" animBg="1"/>
      <p:bldP spid="19" grpId="0"/>
      <p:bldP spid="20" grpId="0" animBg="1"/>
      <p:bldP spid="21" grpId="0" animBg="1"/>
      <p:bldP spid="22" grpId="0"/>
      <p:bldP spid="23" grpId="0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Altman tradition extended: from static ratios to dynamic </a:t>
            </a:r>
            <a:r>
              <a:rPr sz="1300" b="0" dirty="0" err="1">
                <a:solidFill>
                  <a:srgbClr val="0F2830"/>
                </a:solidFill>
                <a:latin typeface="Calibri"/>
              </a:rPr>
              <a:t>behavioural</a:t>
            </a:r>
            <a:r>
              <a:rPr sz="1300" b="0" dirty="0">
                <a:solidFill>
                  <a:srgbClr val="0F2830"/>
                </a:solidFill>
                <a:latin typeface="Calibri"/>
              </a:rPr>
              <a:t>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Online prototype is operational, but not yet a bank-production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Training still partly uses synthetic bootstrap and engineered labels.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Need longitudinal repayment outcomes from multiple Tanzanian sectors.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Pilot priorities: fairness, calibration, drift, security and human review.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Production: verified NIDA, managed Postgres, ERP/payment integrations.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dirty="0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dirty="0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</a:t>
            </a:r>
            <a:r>
              <a:rPr lang="en-US" sz="1600" dirty="0">
                <a:solidFill>
                  <a:srgbClr val="E6EEF0"/>
                </a:solidFill>
                <a:latin typeface="Calibri"/>
              </a:rPr>
              <a:t>SMEs</a:t>
            </a:r>
            <a:r>
              <a:rPr sz="1600" b="0" dirty="0">
                <a:solidFill>
                  <a:srgbClr val="E6EEF0"/>
                </a:solidFill>
                <a:latin typeface="Calibri"/>
              </a:rPr>
              <a:t>, </a:t>
            </a:r>
            <a:r>
              <a:rPr lang="en-US" sz="1600" b="0" dirty="0">
                <a:solidFill>
                  <a:srgbClr val="E6EEF0"/>
                </a:solidFill>
                <a:latin typeface="Calibri"/>
              </a:rPr>
              <a:t>Lender</a:t>
            </a:r>
            <a:r>
              <a:rPr sz="1600" b="0" dirty="0">
                <a:solidFill>
                  <a:srgbClr val="E6EEF0"/>
                </a:solidFill>
                <a:latin typeface="Calibri"/>
              </a:rPr>
              <a:t>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737" y="5464038"/>
            <a:ext cx="10515600" cy="1115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sz="32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r>
              <a:rPr sz="32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200" b="1" dirty="0">
              <a:solidFill>
                <a:srgbClr val="23968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300"/>
              </a:spcAft>
            </a:pPr>
            <a:r>
              <a:rPr sz="32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  <p:transition spd="med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2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4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id="29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8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5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1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20"/>
                            </p:stCondLst>
                            <p:childTnLst>
                              <p:par>
                                <p:cTn id="56" presetID="35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1490</Words>
  <Application>Microsoft Office PowerPoint</Application>
  <PresentationFormat>Widescreen</PresentationFormat>
  <Paragraphs>202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Georgia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Dm_mkuliku</dc:creator>
  <cp:keywords/>
  <dc:description>generated using python-pptx</dc:description>
  <cp:lastModifiedBy>Raymond Tungaraza</cp:lastModifiedBy>
  <cp:revision>4</cp:revision>
  <dcterms:created xsi:type="dcterms:W3CDTF">2013-01-27T09:14:16Z</dcterms:created>
  <dcterms:modified xsi:type="dcterms:W3CDTF">2026-07-22T14:40:18Z</dcterms:modified>
  <cp:category/>
</cp:coreProperties>
</file>