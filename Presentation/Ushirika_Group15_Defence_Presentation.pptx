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3" d="100"/>
          <a:sy n="73" d="100"/>
        </p:scale>
        <p:origin x="594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5760" y="0"/>
            <a:ext cx="73152" cy="68580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25603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39688"/>
                </a:solidFill>
                <a:latin typeface="Calibri"/>
              </a:rPr>
              <a:t>EASTERN AFRICA STATISTICAL TRAINING CENTRE (EASTC)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1792"/>
            <a:ext cx="10789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E6EEF0"/>
                </a:solidFill>
                <a:latin typeface="Calibri"/>
              </a:rPr>
              <a:t>Capstone Project Defence  ·  Bachelor of Data Science (Year III)  · 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051560"/>
            <a:ext cx="107899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Georgia"/>
              </a:rPr>
              <a:t>Development of a Machine Learning-Based</a:t>
            </a:r>
          </a:p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Georgia"/>
              </a:rPr>
              <a:t>Credit Risk Assessment Model for SME</a:t>
            </a:r>
          </a:p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Georgia"/>
              </a:rPr>
              <a:t>Value Chain Financing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7744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D8E8E4"/>
                </a:solidFill>
                <a:latin typeface="Calibri"/>
              </a:rPr>
              <a:t>A Case Study of Tanzania’s Supply Chains  ·  Platform: Ushirika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6766560" cy="265176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3017520"/>
            <a:ext cx="6309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GROUP 15  ·  Presented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47472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Herman Edward Mkumbwa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Raymond Elphance Tungaraza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Edwin Celestin Silayo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347472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Grace Joachim Mohammed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Priscila Nestor Mpembela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880360"/>
            <a:ext cx="3931920" cy="265176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01000" y="306324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39688"/>
                </a:solidFill>
                <a:latin typeface="Calibri"/>
              </a:rPr>
              <a:t>SUPERVISOR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342900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Mr. Rajabu Msangi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411480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39688"/>
                </a:solidFill>
                <a:latin typeface="Calibri"/>
              </a:rPr>
              <a:t>LIVE PROJECT LINK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8056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D8E8E4"/>
                </a:solidFill>
                <a:latin typeface="Calibri"/>
              </a:rPr>
              <a:t>ushirika-sme-portal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D8E8E4"/>
                </a:solidFill>
                <a:latin typeface="Calibri"/>
              </a:rPr>
              <a:t>.vercel.app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0807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BC4BA"/>
                </a:solidFill>
                <a:latin typeface="Calibri"/>
              </a:rPr>
              <a:t>https://ushirika-sme-portal.vercel.app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608076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600" b="0">
                <a:solidFill>
                  <a:srgbClr val="B8D0C8"/>
                </a:solidFill>
                <a:latin typeface="Calibri"/>
              </a:rPr>
              <a:t>1  /  9</a:t>
            </a:r>
          </a:p>
        </p:txBody>
      </p:sp>
    </p:spTree>
  </p:cSld>
  <p:clrMapOvr>
    <a:masterClrMapping/>
  </p:clrMapOvr>
  <p:transition spd="slow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91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2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7" grpId="0"/>
      <p:bldP spid="9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7A6D"/>
                </a:solidFill>
                <a:latin typeface="Calibri"/>
              </a:rPr>
              <a:t>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475488"/>
            <a:ext cx="109728" cy="50292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11480"/>
            <a:ext cx="10698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B3D2E"/>
                </a:solidFill>
                <a:latin typeface="Georgia"/>
              </a:rPr>
              <a:t>Why many Tanzanian SMEs still struggle to get fair credit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508760"/>
            <a:ext cx="56235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508760"/>
            <a:ext cx="128016" cy="20574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76479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A7A6D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01368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B3D2E"/>
                </a:solidFill>
                <a:latin typeface="Calibri"/>
              </a:rPr>
              <a:t>Collateral-heavy lending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49377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3D525A"/>
                </a:solidFill>
                <a:latin typeface="Calibri"/>
              </a:rPr>
              <a:t>Banks still ask for collateral and formal statements that most small traders simply do not have.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508760"/>
            <a:ext cx="56235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508760"/>
            <a:ext cx="128016" cy="205740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29400" y="176479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A7A6D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1801368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B3D2E"/>
                </a:solidFill>
                <a:latin typeface="Calibri"/>
              </a:rPr>
              <a:t>Static risk ratios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331720"/>
            <a:ext cx="49377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3D525A"/>
                </a:solidFill>
                <a:latin typeface="Calibri"/>
              </a:rPr>
              <a:t>Old financial ratios often miss healthy businesses that work in informal or semi-formal supply chains.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794760"/>
            <a:ext cx="56235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1480" y="3794760"/>
            <a:ext cx="128016" cy="205740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05079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A7A6D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087368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B3D2E"/>
                </a:solidFill>
                <a:latin typeface="Calibri"/>
              </a:rPr>
              <a:t>Unused payment signals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617720"/>
            <a:ext cx="49377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3D525A"/>
                </a:solidFill>
                <a:latin typeface="Calibri"/>
              </a:rPr>
              <a:t>How buyers and suppliers actually pay is useful risk data — but few systems capture and use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794760"/>
            <a:ext cx="562356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63640" y="3794760"/>
            <a:ext cx="128016" cy="205740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0" y="405079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1A7A6D"/>
                </a:solidFill>
                <a:latin typeface="Calibr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4087368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B3D2E"/>
                </a:solidFill>
                <a:latin typeface="Calibri"/>
              </a:rPr>
              <a:t>The missing middle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617720"/>
            <a:ext cx="49377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3D525A"/>
                </a:solidFill>
                <a:latin typeface="Calibri"/>
              </a:rPr>
              <a:t>Without another way to score them, good SMEs stay locked out of formal finance.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80" y="654710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65471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2  /  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>
        <p14:vortex dir="u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75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11" grpId="0" animBg="1"/>
      <p:bldP spid="16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7A6D"/>
                </a:solidFill>
                <a:latin typeface="Calibri"/>
              </a:rPr>
              <a:t>AIM OF THE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475488"/>
            <a:ext cx="109728" cy="50292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11480"/>
            <a:ext cx="10698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B3D2E"/>
                </a:solidFill>
                <a:latin typeface="Georgia"/>
              </a:rPr>
              <a:t>What we set out to build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63040"/>
            <a:ext cx="1133856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463040"/>
            <a:ext cx="128016" cy="132588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7A6D"/>
                </a:solidFill>
                <a:latin typeface="Calibri"/>
              </a:rPr>
              <a:t>GENERAL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0F2830"/>
                </a:solidFill>
                <a:latin typeface="Calibri"/>
              </a:rPr>
              <a:t>Build a working platform that reads supply-chain transactions and uses machine learning to give fairer, clearer credit risk scores for Tanzanian SMEs.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3063240"/>
            <a:ext cx="365760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80" y="3063240"/>
            <a:ext cx="3657600" cy="64008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32004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01  Features from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3192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0F2830"/>
                </a:solidFill>
                <a:latin typeface="Calibri"/>
              </a:rPr>
              <a:t>Turn raw supply-chain transactions into useful predictors.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3063240"/>
            <a:ext cx="365760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51960" y="3063240"/>
            <a:ext cx="3657600" cy="64008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89120" y="32004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02  Compare two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393192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0F2830"/>
                </a:solidFill>
                <a:latin typeface="Calibri"/>
              </a:rPr>
              <a:t>Test Random Forest against Logistic Regression.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3063240"/>
            <a:ext cx="365760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2440" y="3063240"/>
            <a:ext cx="3657600" cy="64008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0" y="3200400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03  Prove with metrics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93192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0F2830"/>
                </a:solidFill>
                <a:latin typeface="Calibri"/>
              </a:rPr>
              <a:t>Judge quality with Accuracy, Precision, Recall, F1 and ROC-AUC.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11480" y="654710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471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3  /  9</a:t>
            </a:r>
          </a:p>
        </p:txBody>
      </p:sp>
    </p:spTree>
  </p:cSld>
  <p:clrMapOvr>
    <a:masterClrMapping/>
  </p:clrMapOvr>
  <p:transition spd="med">
    <p:circl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7A6D"/>
                </a:solidFill>
                <a:latin typeface="Calibri"/>
              </a:rPr>
              <a:t>WHAT WAS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475488"/>
            <a:ext cx="109728" cy="50292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11480"/>
            <a:ext cx="10698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B3D2E"/>
                </a:solidFill>
                <a:latin typeface="Georgia"/>
              </a:rPr>
              <a:t>Ushirika — a live credit platform for SMEs and lenders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508760"/>
            <a:ext cx="278892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2788920" cy="594360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27632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31720"/>
            <a:ext cx="2423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0F2830"/>
                </a:solidFill>
                <a:latin typeface="Calibri"/>
              </a:rPr>
              <a:t>Vite portal</a:t>
            </a:r>
          </a:p>
          <a:p>
            <a:pPr algn="ctr">
              <a:spcAft>
                <a:spcPts val="400"/>
              </a:spcAft>
            </a:pPr>
            <a:r>
              <a:rPr sz="1800" b="0">
                <a:solidFill>
                  <a:srgbClr val="0F2830"/>
                </a:solidFill>
                <a:latin typeface="Calibri"/>
              </a:rPr>
              <a:t>SME · Lender · Admin</a:t>
            </a:r>
          </a:p>
          <a:p>
            <a:pPr algn="ctr">
              <a:spcAft>
                <a:spcPts val="400"/>
              </a:spcAft>
            </a:pPr>
            <a:r>
              <a:rPr sz="1800" b="0">
                <a:solidFill>
                  <a:srgbClr val="0F2830"/>
                </a:solidFill>
                <a:latin typeface="Calibri"/>
              </a:rPr>
              <a:t>English / Kiswahili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7432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508760"/>
            <a:ext cx="278892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37560" y="1508760"/>
            <a:ext cx="2788920" cy="59436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29000" y="1627632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31720"/>
            <a:ext cx="2423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0F2830"/>
                </a:solidFill>
                <a:latin typeface="Calibri"/>
              </a:rPr>
              <a:t>FastAPI + JWT</a:t>
            </a:r>
          </a:p>
          <a:p>
            <a:pPr algn="ctr">
              <a:spcAft>
                <a:spcPts val="400"/>
              </a:spcAft>
            </a:pPr>
            <a:r>
              <a:rPr sz="1800" b="0">
                <a:solidFill>
                  <a:srgbClr val="0F2830"/>
                </a:solidFill>
                <a:latin typeface="Calibri"/>
              </a:rPr>
              <a:t>Secure login flows</a:t>
            </a:r>
          </a:p>
          <a:p>
            <a:pPr algn="ctr">
              <a:spcAft>
                <a:spcPts val="400"/>
              </a:spcAft>
            </a:pPr>
            <a:r>
              <a:rPr sz="1800" b="0">
                <a:solidFill>
                  <a:srgbClr val="0F2830"/>
                </a:solidFill>
                <a:latin typeface="Calibri"/>
              </a:rPr>
              <a:t>Role-based 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7432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508760"/>
            <a:ext cx="278892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1508760"/>
            <a:ext cx="2788920" cy="59436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1627632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ML 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331720"/>
            <a:ext cx="2423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0F2830"/>
                </a:solidFill>
                <a:latin typeface="Calibri"/>
              </a:rPr>
              <a:t>Feature engineering</a:t>
            </a:r>
          </a:p>
          <a:p>
            <a:pPr algn="ctr">
              <a:spcAft>
                <a:spcPts val="400"/>
              </a:spcAft>
            </a:pPr>
            <a:r>
              <a:rPr sz="1800" b="0">
                <a:solidFill>
                  <a:srgbClr val="0F2830"/>
                </a:solidFill>
                <a:latin typeface="Calibri"/>
              </a:rPr>
              <a:t>RF (main) + LR</a:t>
            </a:r>
          </a:p>
          <a:p>
            <a:pPr algn="ctr">
              <a:spcAft>
                <a:spcPts val="400"/>
              </a:spcAft>
            </a:pPr>
            <a:r>
              <a:rPr sz="1800" b="0">
                <a:solidFill>
                  <a:srgbClr val="0F2830"/>
                </a:solidFill>
                <a:latin typeface="Calibri"/>
              </a:rPr>
              <a:t>Plain repayment signals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7432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1A7A6D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60" y="1508760"/>
            <a:ext cx="278892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281160" y="1508760"/>
            <a:ext cx="2788920" cy="59436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72600" y="1627632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Data &amp; care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2331720"/>
            <a:ext cx="2423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0F2830"/>
                </a:solidFill>
                <a:latin typeface="Calibri"/>
              </a:rPr>
              <a:t>SQL storage</a:t>
            </a:r>
          </a:p>
          <a:p>
            <a:pPr algn="ctr">
              <a:spcAft>
                <a:spcPts val="400"/>
              </a:spcAft>
            </a:pPr>
            <a:r>
              <a:rPr sz="1800" b="0">
                <a:solidFill>
                  <a:srgbClr val="0F2830"/>
                </a:solidFill>
                <a:latin typeface="Calibri"/>
              </a:rPr>
              <a:t>PII protected</a:t>
            </a:r>
          </a:p>
          <a:p>
            <a:pPr algn="ctr">
              <a:spcAft>
                <a:spcPts val="400"/>
              </a:spcAft>
            </a:pPr>
            <a:r>
              <a:rPr sz="1800" b="0">
                <a:solidFill>
                  <a:srgbClr val="0F2830"/>
                </a:solidFill>
                <a:latin typeface="Calibri"/>
              </a:rPr>
              <a:t>Careful loan caps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4754880"/>
            <a:ext cx="114300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49377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3D525A"/>
                </a:solidFill>
                <a:latin typeface="Calibri"/>
              </a:rPr>
              <a:t>Lenders can search an SME, open the profile, and see score, risk band, plain signals and history.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3D525A"/>
                </a:solidFill>
                <a:latin typeface="Calibri"/>
              </a:rPr>
              <a:t>Registration already checks NIDA against date of birth, and uses region and district lists.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3D525A"/>
                </a:solidFill>
                <a:latin typeface="Calibri"/>
              </a:rPr>
              <a:t>The same portal works on desktop and on phone.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654710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471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4  /  9</a:t>
            </a:r>
          </a:p>
        </p:txBody>
      </p:sp>
    </p:spTree>
  </p:cSld>
  <p:clrMapOvr>
    <a:masterClrMapping/>
  </p:clrMapOvr>
  <p:transition spd="med">
    <p:wheel spokes="1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7A6D"/>
                </a:solidFill>
                <a:latin typeface="Calibri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475488"/>
            <a:ext cx="109728" cy="50292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11480"/>
            <a:ext cx="10698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B3D2E"/>
                </a:solidFill>
                <a:latin typeface="Georgia"/>
              </a:rPr>
              <a:t>What prior work shows — and what is still missing 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68580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3D2E"/>
                </a:solidFill>
                <a:latin typeface="Calibri"/>
              </a:rPr>
              <a:t>Breiman (2001)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3D525A"/>
                </a:solidFill>
                <a:latin typeface="Calibri"/>
              </a:rPr>
              <a:t>Random Forests handle non-linear patterns better than a single model.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377440"/>
            <a:ext cx="68580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3D2E"/>
                </a:solidFill>
                <a:latin typeface="Calibri"/>
              </a:rPr>
              <a:t>Lessmann et al. (2015)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3D525A"/>
                </a:solidFill>
                <a:latin typeface="Calibri"/>
              </a:rPr>
              <a:t>Ensemble classifiers beat classical baselines in credit scoring.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337560"/>
            <a:ext cx="68580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429000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3D2E"/>
                </a:solidFill>
                <a:latin typeface="Calibri"/>
              </a:rPr>
              <a:t>Khandani et al. (2010)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3D525A"/>
                </a:solidFill>
                <a:latin typeface="Calibri"/>
              </a:rPr>
              <a:t>Transaction data can stand in for creditworthiness when statements are thin.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4297680"/>
            <a:ext cx="68580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389120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3D2E"/>
                </a:solidFill>
                <a:latin typeface="Calibri"/>
              </a:rPr>
              <a:t>Klapper (2006)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091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3D525A"/>
                </a:solidFill>
                <a:latin typeface="Calibri"/>
              </a:rPr>
              <a:t>Value-chain finance leans on buyer–supplier links, not only collateral.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1417320"/>
            <a:ext cx="4297680" cy="448056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0" y="16459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39688"/>
                </a:solidFill>
                <a:latin typeface="Calibri"/>
              </a:rPr>
              <a:t>THE GAP IN TANZANIA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19456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Few tools join live SME transactions with ML scoring.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Most published benchmarks use developed-market data.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Local supply-chain signals are still under-used.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Ushirika turns that gap into a working prototype.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480" y="654710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471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5  /  9</a:t>
            </a:r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7A6D"/>
                </a:solidFill>
                <a:latin typeface="Calibri"/>
              </a:rPr>
              <a:t>EVALUATION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475488"/>
            <a:ext cx="109728" cy="50292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11480"/>
            <a:ext cx="10698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B3D2E"/>
                </a:solidFill>
                <a:latin typeface="Georgia"/>
              </a:rPr>
              <a:t>How we trained and tested the models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562356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6002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TRAINING PROTOCOL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0312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1700" b="0">
                <a:solidFill>
                  <a:srgbClr val="0F2830"/>
                </a:solidFill>
                <a:latin typeface="Calibri"/>
              </a:rPr>
              <a:t>•  Features from payment behaviour, volume, delays and partners.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1700" b="0">
                <a:solidFill>
                  <a:srgbClr val="0F2830"/>
                </a:solidFill>
                <a:latin typeface="Calibri"/>
              </a:rPr>
              <a:t>•  80/20 stratified train–test split (seed 42).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1700" b="0">
                <a:solidFill>
                  <a:srgbClr val="0F2830"/>
                </a:solidFill>
                <a:latin typeface="Calibri"/>
              </a:rPr>
              <a:t>•  Models fit on training data only; GridSearchCV uses ROC-AUC.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1700" b="0">
                <a:solidFill>
                  <a:srgbClr val="0F2830"/>
                </a:solidFill>
                <a:latin typeface="Calibri"/>
              </a:rPr>
              <a:t>•  Hold-out metrics: Accuracy, Precision, Recall, F1, ROC-AUC.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1700" b="0">
                <a:solidFill>
                  <a:srgbClr val="0F2830"/>
                </a:solidFill>
                <a:latin typeface="Calibri"/>
              </a:rPr>
              <a:t>•  An SME is scored only after at least twelve transactions.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1700" b="0">
                <a:solidFill>
                  <a:srgbClr val="0F2830"/>
                </a:solidFill>
                <a:latin typeface="Calibri"/>
              </a:rPr>
              <a:t>•  Rare large deals are down-weighted so they do not inflate loan size.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17320"/>
            <a:ext cx="548640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A7A6D"/>
                </a:solidFill>
                <a:latin typeface="Calibri"/>
              </a:rPr>
              <a:t>TWO MODELS COMPARED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031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1700" b="0">
                <a:solidFill>
                  <a:srgbClr val="0F2830"/>
                </a:solidFill>
                <a:latin typeface="Calibri"/>
              </a:rPr>
              <a:t>•  Baseline: Logistic Regression with scaling.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1700" b="0">
                <a:solidFill>
                  <a:srgbClr val="0F2830"/>
                </a:solidFill>
                <a:latin typeface="Calibri"/>
              </a:rPr>
              <a:t>•  Primary model: Random Forest Classifier.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1700" b="0">
                <a:solidFill>
                  <a:srgbClr val="0F2830"/>
                </a:solidFill>
                <a:latin typeface="Calibri"/>
              </a:rPr>
              <a:t>•  Selection metric: hold-out ROC-AUC.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1700" b="0">
                <a:solidFill>
                  <a:srgbClr val="0F2830"/>
                </a:solidFill>
                <a:latin typeface="Calibri"/>
              </a:rPr>
              <a:t>•  Score range about 300–850.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1700" b="0">
                <a:solidFill>
                  <a:srgbClr val="0F2830"/>
                </a:solidFill>
                <a:latin typeface="Calibri"/>
              </a:rPr>
              <a:t>•  Risk bands: Low ≥650 · Medium 500–649 · High &lt;500.</a:t>
            </a:r>
          </a:p>
          <a:p>
            <a:pPr algn="l">
              <a:spcBef>
                <a:spcPts val="500"/>
              </a:spcBef>
              <a:spcAft>
                <a:spcPts val="500"/>
              </a:spcAft>
            </a:pPr>
            <a:r>
              <a:rPr sz="1700" b="0">
                <a:solidFill>
                  <a:srgbClr val="0F2830"/>
                </a:solidFill>
                <a:latin typeface="Calibri"/>
              </a:rPr>
              <a:t>•  Users see plain signals such as on-time payments and late days.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1480" y="654710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65471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6  /  9</a:t>
            </a:r>
          </a:p>
        </p:txBody>
      </p:sp>
    </p:spTree>
  </p:cSld>
  <p:clrMapOvr>
    <a:masterClrMapping/>
  </p:clrMapOvr>
  <p:transition spd="med">
    <p:fade thruBlk="1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7A6D"/>
                </a:solidFill>
                <a:latin typeface="Calibri"/>
              </a:rPr>
              <a:t>FINDINGS  ·  HOLD-OUT PROOF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475488"/>
            <a:ext cx="109728" cy="50292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11480"/>
            <a:ext cx="10698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B3D2E"/>
                </a:solidFill>
                <a:latin typeface="Georgia"/>
              </a:rPr>
              <a:t>Random Forest beat Logistic Regression on unseen test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98755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3D525A"/>
                </a:solidFill>
                <a:latin typeface="Calibri"/>
              </a:rPr>
              <a:t>Hold-out evaluation  ·  80/20 stratified split  ·  test n = 280 SMEs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7680960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Hold-out metrics (creditworthy = positive class)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7360920" cy="438912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938528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938528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Acc.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9385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Prec.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9385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Recall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1938528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19385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AUC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313432"/>
            <a:ext cx="7360920" cy="502920"/>
          </a:xfrm>
          <a:prstGeom prst="rect">
            <a:avLst/>
          </a:prstGeom>
          <a:solidFill>
            <a:srgbClr val="D8E8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2395728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Random Forest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2395728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88.6%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2395728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93.0%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2395728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85.7%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2395728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89.2%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2395728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95.8%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92608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Logistic Reg.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2926080"/>
            <a:ext cx="1051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77.9%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7560" y="2926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75.8%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2926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87.7%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2120" y="29260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81.3%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2926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87.5%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3429000"/>
            <a:ext cx="7223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Proof of choice: RF ROC-AUC is +8.3 pts vs LR (95.8% vs 87.5%).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F2830"/>
                </a:solidFill>
                <a:latin typeface="Calibri"/>
              </a:rPr>
              <a:t>RF accuracy +10.7 pts and precision +17.2 pts — fewer false “creditworthy” labels.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1371600"/>
            <a:ext cx="3520440" cy="310896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80" y="148132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RF confusion matrix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1828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D8E8E4"/>
                </a:solidFill>
                <a:latin typeface="Calibri"/>
              </a:rPr>
              <a:t>Test set: 280 SMEs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22402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TN 116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247802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9BC4BA"/>
                </a:solidFill>
                <a:latin typeface="Calibri"/>
              </a:rPr>
              <a:t>Correct higher-risk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74320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FP 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298094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9BC4BA"/>
                </a:solidFill>
                <a:latin typeface="Calibri"/>
              </a:rPr>
              <a:t>Wrongly called safe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324612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FN 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348386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9BC4BA"/>
                </a:solidFill>
                <a:latin typeface="Calibri"/>
              </a:rPr>
              <a:t>Missed creditworthy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37490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TP 132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398678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9BC4BA"/>
                </a:solidFill>
                <a:latin typeface="Calibri"/>
              </a:rPr>
              <a:t>Correct creditworthy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5760" y="461772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94360" y="470916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3D2E"/>
                </a:solidFill>
                <a:latin typeface="Calibri"/>
              </a:rPr>
              <a:t>What drove RF decisions (feature importance)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074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19.8%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4864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3D525A"/>
                </a:solidFill>
                <a:latin typeface="Calibri"/>
              </a:rPr>
              <a:t>On-time rate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68880" y="5074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18.7%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4864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3D525A"/>
                </a:solidFill>
                <a:latin typeface="Calibri"/>
              </a:rPr>
              <a:t>Default rate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89120" y="5074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8.3%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89120" y="54864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3D525A"/>
                </a:solidFill>
                <a:latin typeface="Calibri"/>
              </a:rPr>
              <a:t>Order-type mix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60" y="5074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5.5%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54864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3D525A"/>
                </a:solidFill>
                <a:latin typeface="Calibri"/>
              </a:rPr>
              <a:t>Account age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5074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4.6%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0" y="54864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3D525A"/>
                </a:solidFill>
                <a:latin typeface="Calibri"/>
              </a:rPr>
              <a:t>Buyer share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49840" y="5074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1A7A6D"/>
                </a:solidFill>
                <a:latin typeface="Calibri"/>
              </a:rPr>
              <a:t>4.4%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49840" y="54864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0">
                <a:solidFill>
                  <a:srgbClr val="3D525A"/>
                </a:solidFill>
                <a:latin typeface="Calibri"/>
              </a:rPr>
              <a:t>Tx frequency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11480" y="654710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41280" y="65471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7  /  9</a:t>
            </a:r>
          </a:p>
        </p:txBody>
      </p:sp>
    </p:spTree>
  </p:cSld>
  <p:clrMapOvr>
    <a:masterClrMapping/>
  </p:clrMapOvr>
  <p:transition spd="med">
    <p:wheel spokes="3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7" grpId="0" animBg="1"/>
      <p:bldP spid="30" grpId="0" animBg="1"/>
      <p:bldP spid="4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5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A7A6D"/>
                </a:solidFill>
                <a:latin typeface="Calibri"/>
              </a:rPr>
              <a:t>RESULTS &amp; 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475488"/>
            <a:ext cx="109728" cy="50292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11480"/>
            <a:ext cx="106984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0B3D2E"/>
                </a:solidFill>
                <a:latin typeface="Georgia"/>
              </a:rPr>
              <a:t>Objectives met — and what must come next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365760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417320"/>
            <a:ext cx="3657600" cy="438912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4813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  Features from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3240" y="1481328"/>
            <a:ext cx="868680" cy="329184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63240" y="1499616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11680"/>
            <a:ext cx="3291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Transactions become behavioural predictors used for scoring.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417320"/>
            <a:ext cx="365760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51960" y="1417320"/>
            <a:ext cx="3657600" cy="438912"/>
          </a:xfrm>
          <a:prstGeom prst="rect">
            <a:avLst/>
          </a:prstGeom>
          <a:solidFill>
            <a:srgbClr val="1A7A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14813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  RF vs classical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03720" y="1481328"/>
            <a:ext cx="868680" cy="329184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03720" y="1499616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011680"/>
            <a:ext cx="3291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RF beats LR on ROC-AUC (95.8% vs 87.5%).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417320"/>
            <a:ext cx="365760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2440" y="1417320"/>
            <a:ext cx="3657600" cy="438912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0" y="148132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  Standard evaluation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744200" y="1481328"/>
            <a:ext cx="868680" cy="329184"/>
          </a:xfrm>
          <a:prstGeom prst="roundRect">
            <a:avLst>
              <a:gd name="adj" fmla="val 8000"/>
            </a:avLst>
          </a:prstGeom>
          <a:solidFill>
            <a:srgbClr val="1A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744200" y="1499616"/>
            <a:ext cx="868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291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3D525A"/>
                </a:solidFill>
                <a:latin typeface="Calibri"/>
              </a:rPr>
              <a:t>Accuracy, Precision, Recall, F1 and ROC-AUC guide model choice.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3337560"/>
            <a:ext cx="11338560" cy="2697480"/>
          </a:xfrm>
          <a:prstGeom prst="roundRect">
            <a:avLst>
              <a:gd name="adj" fmla="val 8000"/>
            </a:avLst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3456432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39688"/>
                </a:solidFill>
                <a:latin typeface="Calibri"/>
              </a:rPr>
              <a:t>LIMITS &amp; NEXT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84048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The portal is live, but it is still a prototype — not a bank production system. Next: lender pilot on real SME ledgers, plus official verification links.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480560"/>
            <a:ext cx="3474720" cy="132588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45720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TRA — TIN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493776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EF0"/>
                </a:solidFill>
                <a:latin typeface="Calibri"/>
              </a:rPr>
              <a:t>Verify TIN numbers with TRA so registered businesses can be confirmed.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4480560"/>
            <a:ext cx="3474720" cy="132588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26280" y="45720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TRA — EFD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493776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EF0"/>
                </a:solidFill>
                <a:latin typeface="Calibri"/>
              </a:rPr>
              <a:t>Check EFD receipts so reported sales match fiscal records.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01000" y="4480560"/>
            <a:ext cx="3474720" cy="132588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183880" y="45720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NIDA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83880" y="493776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E6EEF0"/>
                </a:solidFill>
                <a:latin typeface="Calibri"/>
              </a:rPr>
              <a:t>Verify national IDs with NIDA beyond format and date-of-birth checks.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11480" y="6547104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USHIRIKA  ·  Group 15  ·  EASTC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65471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B8D0C8"/>
                </a:solidFill>
                <a:latin typeface="Calibri"/>
              </a:rPr>
              <a:t>8  /  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>
        <p14:vortex dir="r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2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3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39688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144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Georgia"/>
              </a:rPr>
              <a:t>The general objective was met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E6EEF0"/>
                </a:solidFill>
                <a:latin typeface="Calibri"/>
              </a:rPr>
              <a:t>Ushirika turns supply-chain transactions into clear credit scores. We compared Random Forest with Logistic Regression on hold-out data, and shipped a live portal for SMEs, lenders and admins.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971800"/>
            <a:ext cx="10607040" cy="64008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3118104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39688"/>
                </a:solidFill>
                <a:latin typeface="Calibri"/>
              </a:rPr>
              <a:t>Highest priority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3118104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Pilot with partner lenders on real SME ledgers.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49039"/>
            <a:ext cx="10607040" cy="64008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3895343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39688"/>
                </a:solidFill>
                <a:latin typeface="Calibri"/>
              </a:rPr>
              <a:t>Authority links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895343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TRA (TIN &amp; EFD) and NIDA verification for stronger trust.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526280"/>
            <a:ext cx="10607040" cy="640080"/>
          </a:xfrm>
          <a:prstGeom prst="roundRect">
            <a:avLst>
              <a:gd name="adj" fmla="val 8000"/>
            </a:avLst>
          </a:prstGeom>
          <a:solidFill>
            <a:srgbClr val="0A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4672584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39688"/>
                </a:solidFill>
                <a:latin typeface="Calibri"/>
              </a:rPr>
              <a:t>Before production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4672584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Managed database, hosting hardening, and ongoing model review.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8978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239688"/>
                </a:solidFill>
                <a:latin typeface="Calibri"/>
              </a:rPr>
              <a:t>Asanteni  ·  Questions and discussion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58978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600" b="0">
                <a:solidFill>
                  <a:srgbClr val="B8D0C8"/>
                </a:solidFill>
                <a:latin typeface="Calibri"/>
              </a:rPr>
              <a:t>9  /  9</a:t>
            </a:r>
          </a:p>
        </p:txBody>
      </p:sp>
    </p:spTree>
  </p:cSld>
  <p:clrMapOvr>
    <a:masterClrMapping/>
  </p:clrMapOvr>
  <p:transition spd="slow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7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/>
      <p:bldP spid="6" grpId="0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1075</Words>
  <Application>Microsoft Office PowerPoint</Application>
  <PresentationFormat>Widescreen</PresentationFormat>
  <Paragraphs>189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Raymond Tungaraza</cp:lastModifiedBy>
  <cp:revision>2</cp:revision>
  <dcterms:created xsi:type="dcterms:W3CDTF">2013-01-27T09:14:16Z</dcterms:created>
  <dcterms:modified xsi:type="dcterms:W3CDTF">2026-07-30T07:34:43Z</dcterms:modified>
  <cp:category/>
</cp:coreProperties>
</file>