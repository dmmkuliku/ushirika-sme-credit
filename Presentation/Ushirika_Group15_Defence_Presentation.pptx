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594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08349"/>
            <a:ext cx="1051560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dirty="0">
                <a:solidFill>
                  <a:srgbClr val="2396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EASTERN AFRICA STATISTICAL TRAINING CENTRE  ·  </a:t>
            </a:r>
            <a:r>
              <a:rPr sz="1600" b="1" dirty="0">
                <a:solidFill>
                  <a:srgbClr val="2396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CAPSTONE</a:t>
            </a:r>
            <a:r>
              <a:rPr sz="1400" b="1" dirty="0">
                <a:solidFill>
                  <a:srgbClr val="2396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PROJECT DEFENCE</a:t>
            </a:r>
            <a:endParaRPr lang="en-US" sz="1400" b="1" dirty="0">
              <a:solidFill>
                <a:srgbClr val="23968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Aft>
                <a:spcPts val="300"/>
              </a:spcAft>
            </a:pPr>
            <a:br>
              <a:rPr lang="en-US" sz="1400" b="1" dirty="0">
                <a:solidFill>
                  <a:srgbClr val="2396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Bachelor of Data Science (Year III)  ·  Academic Year 2025/2026</a:t>
            </a:r>
          </a:p>
          <a:p>
            <a:pPr algn="ctr">
              <a:spcAft>
                <a:spcPts val="300"/>
              </a:spcAft>
            </a:pPr>
            <a:endParaRPr sz="1400" b="1" dirty="0">
              <a:solidFill>
                <a:srgbClr val="23968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98067" y="1624858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 dirty="0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 dirty="0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 dirty="0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8067" y="3037115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047" y="3917892"/>
            <a:ext cx="105156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 — GROUP 15</a:t>
            </a:r>
          </a:p>
          <a:p>
            <a:pPr>
              <a:spcAft>
                <a:spcPts val="300"/>
              </a:spcAft>
            </a:pPr>
            <a:r>
              <a:rPr lang="en-US" sz="1500"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Priscila Nestor Mpembela</a:t>
            </a:r>
          </a:p>
          <a:p>
            <a:pPr algn="l">
              <a:spcAft>
                <a:spcPts val="300"/>
              </a:spcAft>
            </a:pPr>
            <a:r>
              <a:rPr sz="1500"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Herman Edward Mkumbwa  </a:t>
            </a:r>
            <a:br>
              <a:rPr lang="en-US" sz="1500"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500"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Raymond Elphance Tungaraza  </a:t>
            </a:r>
            <a:br>
              <a:rPr lang="en-US" sz="150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500"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Edwin Celestin Silayo</a:t>
            </a:r>
          </a:p>
          <a:p>
            <a:pPr algn="l">
              <a:spcAft>
                <a:spcPts val="300"/>
              </a:spcAft>
            </a:pPr>
            <a:r>
              <a:rPr sz="1500"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Grace Joachim Mohammed  </a:t>
            </a:r>
            <a:br>
              <a:rPr lang="en-US" sz="140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sz="1400" b="0" dirty="0">
              <a:solidFill>
                <a:srgbClr val="B8D0C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Aft>
                <a:spcPts val="300"/>
              </a:spcAft>
            </a:pPr>
            <a:r>
              <a:rPr sz="1400" b="0" dirty="0">
                <a:solidFill>
                  <a:srgbClr val="B8D0C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SUPERVISOR: Mr. Rajabu Msangi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543" y="6439989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9BC4B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 dirty="0">
                <a:solidFill>
                  <a:srgbClr val="0B3D2E"/>
                </a:solidFill>
                <a:latin typeface="Georgia"/>
              </a:rPr>
              <a:t>The problem this project set out to solve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34886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 dirty="0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dirty="0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5999"/>
            <a:ext cx="484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dirty="0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 dirty="0">
                <a:solidFill>
                  <a:srgbClr val="0B3D2E"/>
                </a:solidFill>
                <a:latin typeface="Georgia"/>
              </a:rPr>
              <a:t>General objective and three specific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dirty="0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b="1" dirty="0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dirty="0">
                <a:solidFill>
                  <a:srgbClr val="FFFFFF"/>
                </a:solidFill>
                <a:latin typeface="Calibri"/>
              </a:rPr>
              <a:t>02  </a:t>
            </a:r>
            <a:r>
              <a:rPr b="1" dirty="0">
                <a:solidFill>
                  <a:srgbClr val="FFFFFF"/>
                </a:solidFill>
                <a:latin typeface="Calibri"/>
              </a:rPr>
              <a:t>Compare</a:t>
            </a:r>
            <a:r>
              <a:rPr sz="1400" b="1" dirty="0">
                <a:solidFill>
                  <a:srgbClr val="FFFFFF"/>
                </a:solidFill>
                <a:latin typeface="Calibri"/>
              </a:rPr>
              <a:t>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dirty="0">
                <a:solidFill>
                  <a:srgbClr val="FFFFFF"/>
                </a:solidFill>
                <a:latin typeface="Calibri"/>
              </a:rPr>
              <a:t>03  </a:t>
            </a:r>
            <a:r>
              <a:rPr b="1" dirty="0">
                <a:solidFill>
                  <a:srgbClr val="FFFFFF"/>
                </a:solidFill>
                <a:latin typeface="Calibri"/>
              </a:rPr>
              <a:t>Validate</a:t>
            </a:r>
            <a:r>
              <a:rPr sz="1400" b="1" dirty="0">
                <a:solidFill>
                  <a:srgbClr val="FFFFFF"/>
                </a:solidFill>
                <a:latin typeface="Calibri"/>
              </a:rPr>
              <a:t>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B8D0C8"/>
                </a:solidFill>
                <a:latin typeface="Calibri"/>
              </a:rPr>
              <a:t>USHIRIKA — SME VALUE </a:t>
            </a:r>
            <a:r>
              <a:rPr sz="1100" b="0" dirty="0">
                <a:solidFill>
                  <a:srgbClr val="B8D0C8"/>
                </a:solidFill>
                <a:latin typeface="Calibri"/>
              </a:rPr>
              <a:t>CHAIN</a:t>
            </a:r>
            <a:r>
              <a:rPr sz="1000" b="0" dirty="0">
                <a:solidFill>
                  <a:srgbClr val="B8D0C8"/>
                </a:solidFill>
                <a:latin typeface="Calibri"/>
              </a:rPr>
              <a:t>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dirty="0">
                <a:solidFill>
                  <a:srgbClr val="1A7A6D"/>
                </a:solidFill>
                <a:latin typeface="Calibri"/>
              </a:rPr>
              <a:t>WHAT </a:t>
            </a:r>
            <a:r>
              <a:rPr sz="1400" b="1" dirty="0">
                <a:solidFill>
                  <a:srgbClr val="1A7A6D"/>
                </a:solidFill>
                <a:latin typeface="Calibri"/>
              </a:rPr>
              <a:t>WAS</a:t>
            </a:r>
            <a:r>
              <a:rPr sz="1200" b="1" dirty="0">
                <a:solidFill>
                  <a:srgbClr val="1A7A6D"/>
                </a:solidFill>
                <a:latin typeface="Calibri"/>
              </a:rPr>
              <a:t>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 dirty="0">
                <a:solidFill>
                  <a:srgbClr val="0B3D2E"/>
                </a:solidFill>
                <a:latin typeface="Georgia"/>
              </a:rPr>
              <a:t>Ushirika — end-to-end SME value-chain credit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dirty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0" dirty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600" b="0" dirty="0">
                <a:solidFill>
                  <a:srgbClr val="0F2830"/>
                </a:solidFill>
                <a:latin typeface="Calibri"/>
              </a:rPr>
              <a:t>SME · </a:t>
            </a:r>
            <a:r>
              <a:rPr lang="en-US" sz="1600" dirty="0">
                <a:solidFill>
                  <a:srgbClr val="0F2830"/>
                </a:solidFill>
                <a:latin typeface="Calibri"/>
              </a:rPr>
              <a:t>Lender</a:t>
            </a:r>
            <a:r>
              <a:rPr sz="1600" b="0" dirty="0">
                <a:solidFill>
                  <a:srgbClr val="0F2830"/>
                </a:solidFill>
                <a:latin typeface="Calibri"/>
              </a:rPr>
              <a:t> · Admin</a:t>
            </a:r>
          </a:p>
          <a:p>
            <a:pPr algn="ctr">
              <a:spcAft>
                <a:spcPts val="300"/>
              </a:spcAft>
            </a:pPr>
            <a:r>
              <a:rPr sz="1600" b="0" dirty="0">
                <a:solidFill>
                  <a:srgbClr val="0F2830"/>
                </a:solidFill>
                <a:latin typeface="Calibri"/>
              </a:rPr>
              <a:t>EN/SW </a:t>
            </a:r>
            <a:br>
              <a:rPr lang="en-US" sz="1600" b="0" dirty="0">
                <a:solidFill>
                  <a:srgbClr val="0F2830"/>
                </a:solidFill>
                <a:latin typeface="Calibri"/>
              </a:rPr>
            </a:br>
            <a:r>
              <a:rPr sz="1600" b="0" dirty="0">
                <a:solidFill>
                  <a:srgbClr val="0F2830"/>
                </a:solidFill>
                <a:latin typeface="Calibri"/>
              </a:rPr>
              <a:t>· live dashboards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dirty="0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0" dirty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600" b="0" dirty="0">
                <a:solidFill>
                  <a:srgbClr val="0F2830"/>
                </a:solidFill>
                <a:latin typeface="Calibri"/>
              </a:rPr>
              <a:t>Transactions + TIN</a:t>
            </a:r>
          </a:p>
          <a:p>
            <a:pPr algn="ctr">
              <a:spcAft>
                <a:spcPts val="300"/>
              </a:spcAft>
            </a:pPr>
            <a:r>
              <a:rPr sz="1600" b="0" dirty="0">
                <a:solidFill>
                  <a:srgbClr val="0F2830"/>
                </a:solidFill>
                <a:latin typeface="Calibri"/>
              </a:rPr>
              <a:t>Role-based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dirty="0">
                <a:solidFill>
                  <a:srgbClr val="FFFFFF"/>
                </a:solidFill>
                <a:latin typeface="Calibri"/>
              </a:rPr>
              <a:t>ML</a:t>
            </a:r>
            <a:r>
              <a:rPr sz="1500" b="1" dirty="0">
                <a:solidFill>
                  <a:srgbClr val="FFFFFF"/>
                </a:solidFill>
                <a:latin typeface="Calibri"/>
              </a:rPr>
              <a:t>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0" dirty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600" b="0" dirty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600" b="0" dirty="0">
                <a:solidFill>
                  <a:srgbClr val="0F2830"/>
                </a:solidFill>
                <a:latin typeface="Calibri"/>
              </a:rPr>
              <a:t>80/20 train–test +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dirty="0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0" dirty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600" b="0" dirty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600" b="0" dirty="0">
                <a:solidFill>
                  <a:srgbClr val="0F2830"/>
                </a:solidFill>
                <a:latin typeface="Calibri"/>
              </a:rPr>
              <a:t>Outlier-aware financing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8694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4A5E66"/>
                </a:solidFill>
                <a:latin typeface="Calibri"/>
              </a:rPr>
              <a:t>Also delivered beyond proposal baseline: NIDA/PIN auth, forgot-PIN via birthdate, CSV import/export, live retrain on SME data, outlier caps, and bilingual UI.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1D3AF6-4C9F-4CF8-97FF-0C5A69BC0768}"/>
              </a:ext>
            </a:extLst>
          </p:cNvPr>
          <p:cNvSpPr txBox="1"/>
          <p:nvPr/>
        </p:nvSpPr>
        <p:spPr>
          <a:xfrm>
            <a:off x="655320" y="1261872"/>
            <a:ext cx="9429206" cy="23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endParaRPr sz="1300" b="0">
              <a:solidFill>
                <a:srgbClr val="4A5E6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FFFFFF"/>
                </a:solidFill>
                <a:latin typeface="Calibri"/>
              </a:rPr>
              <a:t>•  Ushirika </a:t>
            </a:r>
            <a:r>
              <a:rPr sz="1300" b="0" dirty="0" err="1">
                <a:solidFill>
                  <a:srgbClr val="FFFFFF"/>
                </a:solidFill>
                <a:latin typeface="Calibri"/>
              </a:rPr>
              <a:t>operationalises</a:t>
            </a:r>
            <a:r>
              <a:rPr sz="1300" b="0" dirty="0">
                <a:solidFill>
                  <a:srgbClr val="FFFFFF"/>
                </a:solidFill>
                <a:latin typeface="Calibri"/>
              </a:rPr>
              <a:t>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 controlled train–test design — not a hard-coded score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80/20 stratified </a:t>
            </a:r>
            <a:r>
              <a:rPr sz="1300" b="0" dirty="0" err="1">
                <a:solidFill>
                  <a:srgbClr val="0F2830"/>
                </a:solidFill>
                <a:latin typeface="Calibri"/>
              </a:rPr>
              <a:t>train_test_split</a:t>
            </a:r>
            <a:r>
              <a:rPr sz="1300" b="0" dirty="0">
                <a:solidFill>
                  <a:srgbClr val="0F2830"/>
                </a:solidFill>
                <a:latin typeface="Calibri"/>
              </a:rPr>
              <a:t> (</a:t>
            </a:r>
            <a:r>
              <a:rPr sz="1300" b="0" dirty="0" err="1">
                <a:solidFill>
                  <a:srgbClr val="0F2830"/>
                </a:solidFill>
                <a:latin typeface="Calibri"/>
              </a:rPr>
              <a:t>random_state</a:t>
            </a:r>
            <a:r>
              <a:rPr sz="1300" b="0" dirty="0">
                <a:solidFill>
                  <a:srgbClr val="0F2830"/>
                </a:solidFill>
                <a:latin typeface="Calibri"/>
              </a:rPr>
              <a:t>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Outliers are flagged; financing caps use typical volume, not one-off spikes.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IQR flags unusual large deals for lending caps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Ensemble Random Forest outperforms classical 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84.2%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75.4%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 (seed=42) — metrics from model_meta.json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84.2% · Precision 85.7% · Recall 52.9% · F1 65.5% · ROC-AUC 88.5%.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74.6% · Precision 64.0% · Recall 23.5% · F1 34.4% · ROC-AUC 75.4%.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Evidence is reproducible via scripts/train_model.py and stored artifacts under Backend/models/.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k-fold GridSearchCV on the training split reduces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Conservative score mapping (~300–680) and explicit risk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never exceeds typical (non-outlier) capacity — realistic lending.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Technical Performance Report documents honesty of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Eligible financing (TZS) with outlier-aware caps.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Human-readable score components for explainability.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Lender portfolio view by NIDA / membership ID.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Admin governance for accounts and PIN reset.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Bilingual portal (English / Kiswahili).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13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(88.5% vs 75.4%).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 dirty="0">
                <a:solidFill>
                  <a:srgbClr val="0F2830"/>
                </a:solidFill>
                <a:latin typeface="Calibri"/>
              </a:rPr>
              <a:t>•  Altman tradition extended: from static ratios to dynamic </a:t>
            </a:r>
            <a:r>
              <a:rPr sz="1300" b="0" dirty="0" err="1">
                <a:solidFill>
                  <a:srgbClr val="0F2830"/>
                </a:solidFill>
                <a:latin typeface="Calibri"/>
              </a:rPr>
              <a:t>behavioural</a:t>
            </a:r>
            <a:r>
              <a:rPr sz="1300" b="0" dirty="0">
                <a:solidFill>
                  <a:srgbClr val="0F2830"/>
                </a:solidFill>
                <a:latin typeface="Calibri"/>
              </a:rPr>
              <a:t>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Prototype scope — not yet a full bank 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relies partly on synthetic bootstrap when live SMEs are few.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larger, multi-sector Tanzanian transaction panels.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XGBoost/GBM, live ERP connectors, stronger model monitoring.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formal NIDA verification and managed Postgres.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dirty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</a:t>
            </a:r>
            <a:r>
              <a:rPr sz="1500" b="0" dirty="0" err="1">
                <a:solidFill>
                  <a:srgbClr val="E6EEF0"/>
                </a:solidFill>
                <a:latin typeface="Calibri"/>
              </a:rPr>
              <a:t>Mfanyabiashara</a:t>
            </a:r>
            <a:r>
              <a:rPr sz="1500" b="0" dirty="0">
                <a:solidFill>
                  <a:srgbClr val="E6EEF0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E6EEF0"/>
                </a:solidFill>
                <a:latin typeface="Calibri"/>
              </a:rPr>
              <a:t>Afisa</a:t>
            </a:r>
            <a:r>
              <a:rPr sz="1500" b="0" dirty="0">
                <a:solidFill>
                  <a:srgbClr val="E6EE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E6EEF0"/>
                </a:solidFill>
                <a:latin typeface="Calibri"/>
              </a:rPr>
              <a:t>mikopo</a:t>
            </a:r>
            <a:r>
              <a:rPr sz="1500" b="0" dirty="0">
                <a:solidFill>
                  <a:srgbClr val="E6EEF0"/>
                </a:solidFill>
                <a:latin typeface="Calibri"/>
              </a:rPr>
              <a:t>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1436</Words>
  <Application>Microsoft Office PowerPoint</Application>
  <PresentationFormat>Widescreen</PresentationFormat>
  <Paragraphs>194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Georgia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Raymond Tungaraza</cp:lastModifiedBy>
  <cp:revision>5</cp:revision>
  <dcterms:created xsi:type="dcterms:W3CDTF">2013-01-27T09:14:16Z</dcterms:created>
  <dcterms:modified xsi:type="dcterms:W3CDTF">2026-07-19T09:24:35Z</dcterms:modified>
  <cp:category/>
</cp:coreProperties>
</file>