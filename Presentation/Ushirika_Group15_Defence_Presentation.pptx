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59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39688"/>
                </a:solidFill>
                <a:latin typeface="Calibri"/>
              </a:rPr>
              <a:t>EASTERN AFRICA STATISTICAL TRAINING CENTRE (EASTC)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6EEF0"/>
                </a:solidFill>
                <a:latin typeface="Calibri"/>
              </a:rPr>
              <a:t>Capstone Project Defence  ·  Bachelor of Data Science (Year III)  · 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Development of a Machine Learning-Based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Credit Risk Assessment Model for SME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Value Chain Financing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8E8E4"/>
                </a:solidFill>
                <a:latin typeface="Calibri"/>
              </a:rPr>
              <a:t>A Case Study of Tanzania’s Supply Chains  ·  Platform: Ushirika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26080"/>
            <a:ext cx="6766560" cy="2606040"/>
          </a:xfrm>
          <a:prstGeom prst="roundRect">
            <a:avLst>
              <a:gd name="adj" fmla="val 8000"/>
            </a:avLst>
          </a:prstGeom>
          <a:solidFill>
            <a:srgbClr val="0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39688"/>
                </a:solidFill>
                <a:latin typeface="Calibri"/>
              </a:rPr>
              <a:t>GROUP 15  ·  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Herman Edward Mkumbwa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Raymond Elphance Tungaraza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Edwin Celestin Silayo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4747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Grace Joachim Mohammed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Priscila Nestor Mpembela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926080"/>
            <a:ext cx="3931920" cy="2606040"/>
          </a:xfrm>
          <a:prstGeom prst="roundRect">
            <a:avLst>
              <a:gd name="adj" fmla="val 8000"/>
            </a:avLst>
          </a:prstGeom>
          <a:solidFill>
            <a:srgbClr val="0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31089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9688"/>
                </a:solidFill>
                <a:latin typeface="Calibri"/>
              </a:rPr>
              <a:t>SUPERVISOR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4747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Mr. Rajabu Msangi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1605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9688"/>
                </a:solidFill>
                <a:latin typeface="Calibri"/>
              </a:rPr>
              <a:t>LIVE PROJECT 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5262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8E8E4"/>
                </a:solidFill>
                <a:latin typeface="Calibri"/>
              </a:rPr>
              <a:t>ushirika-sme-portal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D8E8E4"/>
                </a:solidFill>
                <a:latin typeface="Calibri"/>
              </a:rPr>
              <a:t>.vercel.app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BC4BA"/>
                </a:solidFill>
                <a:latin typeface="Calibri"/>
              </a:rPr>
              <a:t>https://ushirika-sme-portal.vercel.app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126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B8D0C8"/>
                </a:solidFill>
                <a:latin typeface="Calibri"/>
              </a:rPr>
              <a:t>1  /  9</a:t>
            </a: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1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2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9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389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B3D2E"/>
                </a:solidFill>
                <a:latin typeface="Georgia"/>
              </a:rPr>
              <a:t>Why many Tanzanian SMEs still struggle to get fair credit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128016" cy="20574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7A6D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28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3D2E"/>
                </a:solidFill>
                <a:latin typeface="Calibri"/>
              </a:rPr>
              <a:t>Collateral-heavy lending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D525A"/>
                </a:solidFill>
                <a:latin typeface="Calibri"/>
              </a:rPr>
              <a:t>Banks still ask for collateral and formal statements that most small traders simply do not have.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128016" cy="20574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1783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7A6D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828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3D2E"/>
                </a:solidFill>
                <a:latin typeface="Calibri"/>
              </a:rPr>
              <a:t>Static risk ratios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3774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D525A"/>
                </a:solidFill>
                <a:latin typeface="Calibri"/>
              </a:rPr>
              <a:t>Old financial ratios often miss healthy businesses that work in informal or semi-formal supply chains.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79476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3794760"/>
            <a:ext cx="128016" cy="20574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69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7A6D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14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3D2E"/>
                </a:solidFill>
                <a:latin typeface="Calibri"/>
              </a:rPr>
              <a:t>Unused payment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D525A"/>
                </a:solidFill>
                <a:latin typeface="Calibri"/>
              </a:rPr>
              <a:t>How buyers and suppliers actually pay is useful risk data — but few systems capture and use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9476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794760"/>
            <a:ext cx="128016" cy="20574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4069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7A6D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114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3D2E"/>
                </a:solidFill>
                <a:latin typeface="Calibri"/>
              </a:rPr>
              <a:t>The missing middle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6634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D525A"/>
                </a:solidFill>
                <a:latin typeface="Calibri"/>
              </a:rPr>
              <a:t>Without another way to score them, good SMEs stay locked out of formal finance.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USHIRIKA  ·  Group 15  ·  EASTC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2  /  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vortex dir="u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1" grpId="0" animBg="1"/>
      <p:bldP spid="16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AIM OF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389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B3D2E"/>
                </a:solidFill>
                <a:latin typeface="Georgia"/>
              </a:rPr>
              <a:t>What we set out to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113385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128016" cy="13258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GENERAL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F2830"/>
                </a:solidFill>
                <a:latin typeface="Calibri"/>
              </a:rPr>
              <a:t>Build a working platform that reads supply-chain transactions and uses machine learning to give fairer, clearer credit risk scores for Tanzanian SMEs.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063240"/>
            <a:ext cx="365760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3063240"/>
            <a:ext cx="3657600" cy="6400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01  Features from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77639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Turn raw supply-chain transactions into useful predictors.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063240"/>
            <a:ext cx="365760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3063240"/>
            <a:ext cx="3657600" cy="6400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02  Compare two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977639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Test Random Forest against Logistic Regression.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063240"/>
            <a:ext cx="365760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3063240"/>
            <a:ext cx="3657600" cy="6400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03  Prove with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977639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Judge quality with Accuracy, Precision, Recall, F1 and ROC-AUC.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USHIRIKA  ·  Group 15  ·  EASTC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3  /  9</a:t>
            </a:r>
          </a:p>
        </p:txBody>
      </p:sp>
    </p:spTree>
  </p:cSld>
  <p:clrMapOvr>
    <a:masterClrMapping/>
  </p:clrMapOvr>
  <p:transition spd="med">
    <p:circl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WHAT WAS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389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B3D2E"/>
                </a:solidFill>
                <a:latin typeface="Georgia"/>
              </a:rPr>
              <a:t>Ushirika — a live credit platform for SMEs and lenders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788920" cy="5943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Vite portal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SME · Lender · Admin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English / Kiswahili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A7A6D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0876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508760"/>
            <a:ext cx="2788920" cy="5943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6276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3172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FastAPI + JWT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Secure login flows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Role-based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A7A6D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50876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508760"/>
            <a:ext cx="2788920" cy="594360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6276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ML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3172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Feature engineering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RF (main) + LR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Plain repayment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A7A6D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50876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81160" y="1508760"/>
            <a:ext cx="2788920" cy="59436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16276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Data &amp; 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33172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SQL storage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PII protected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Careful loan caps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754880"/>
            <a:ext cx="11430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D525A"/>
                </a:solidFill>
                <a:latin typeface="Calibri"/>
              </a:rPr>
              <a:t>Lenders can search an SME, open the profile, and see score, risk band, plain signals and history.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D525A"/>
                </a:solidFill>
                <a:latin typeface="Calibri"/>
              </a:rPr>
              <a:t>Registration already checks NIDA against date of birth, and uses region and district lists.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D525A"/>
                </a:solidFill>
                <a:latin typeface="Calibri"/>
              </a:rPr>
              <a:t>The same portal works on desktop and on phone.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USHIRIKA  ·  Group 15  ·  EASTC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4  /  9</a:t>
            </a:r>
          </a:p>
        </p:txBody>
      </p:sp>
    </p:spTree>
  </p:cSld>
  <p:clrMapOvr>
    <a:masterClrMapping/>
  </p:clrMapOvr>
  <p:transition spd="med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389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B3D2E"/>
                </a:solidFill>
                <a:latin typeface="Georgia"/>
              </a:rPr>
              <a:t>What prior work shows — and what is still missing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6858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3D2E"/>
                </a:solidFill>
                <a:latin typeface="Calibri"/>
              </a:rPr>
              <a:t>Breiman (2001)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D525A"/>
                </a:solidFill>
                <a:latin typeface="Calibri"/>
              </a:rPr>
              <a:t>Random Forests handle non-linear patterns better than a single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377440"/>
            <a:ext cx="6858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3D2E"/>
                </a:solidFill>
                <a:latin typeface="Calibri"/>
              </a:rPr>
              <a:t>Lessmann et al. (2015)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D525A"/>
                </a:solidFill>
                <a:latin typeface="Calibri"/>
              </a:rPr>
              <a:t>Ensemble classifiers beat classical baselines in credit scoring.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337560"/>
            <a:ext cx="6858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4472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3D2E"/>
                </a:solidFill>
                <a:latin typeface="Calibri"/>
              </a:rPr>
              <a:t>Khandani et al. (2010)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D525A"/>
                </a:solidFill>
                <a:latin typeface="Calibri"/>
              </a:rPr>
              <a:t>Transaction data can stand in for creditworthiness when statements are thin.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297680"/>
            <a:ext cx="6858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4074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3D2E"/>
                </a:solidFill>
                <a:latin typeface="Calibri"/>
              </a:rPr>
              <a:t>Klapper (2006)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D525A"/>
                </a:solidFill>
                <a:latin typeface="Calibri"/>
              </a:rPr>
              <a:t>Value-chain finance leans on buyer–supplier links, not only collateral.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417320"/>
            <a:ext cx="4297680" cy="448056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1645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39688"/>
                </a:solidFill>
                <a:latin typeface="Calibri"/>
              </a:rPr>
              <a:t>THE GAP IN TANZANIA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9456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Few tools join live SME transactions with ML scoring.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Most published benchmarks use developed-market data.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Local supply-chain signals are still under-used.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Ushirika turns that gap into a working prototype.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USHIRIKA  ·  Group 15  ·  EASTC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5  /  9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EVALUATION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389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B3D2E"/>
                </a:solidFill>
                <a:latin typeface="Georgia"/>
              </a:rPr>
              <a:t>How we trained and tested the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562356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7A6D"/>
                </a:solidFill>
                <a:latin typeface="Calibri"/>
              </a:rPr>
              <a:t>TRAINING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Features from payment behaviour, volume, delays and partners.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80/20 stratified train–test split (seed 42).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Models fit on training data only; GridSearchCV uses ROC-AUC.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Hold-out metrics: Accuracy, Precision, Recall, F1, ROC-AUC.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An SME is scored only after at least twelve transactions.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Rare large deals are down-weighted so they do not inflate loan size.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7A6D"/>
                </a:solidFill>
                <a:latin typeface="Calibri"/>
              </a:rPr>
              <a:t>TWO MODELS COMPARED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Baseline: Logistic Regression with scaling.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Primary model: Random Forest Classifier.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Selection metric: hold-out ROC-AUC.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Score range about 300–850.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Risk bands: Low ≥650 · Medium 500–649 · High &lt;500.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Users see plain signals such as on-time payments and late days.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USHIRIKA  ·  Group 15  ·  EASTC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6  /  9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389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B3D2E"/>
                </a:solidFill>
                <a:latin typeface="Georgia"/>
              </a:rPr>
              <a:t>Random Forest beat Logistic Regression on unseen test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27889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09728" cy="1280160"/>
          </a:xfrm>
          <a:prstGeom prst="rect">
            <a:avLst/>
          </a:prstGeom>
          <a:solidFill>
            <a:srgbClr val="1A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61848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3D2E"/>
                </a:solidFill>
                <a:latin typeface="Calibri"/>
              </a:rPr>
              <a:t>95.8%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D525A"/>
                </a:solidFill>
                <a:latin typeface="Calibri"/>
              </a:rPr>
              <a:t>RF ROC-AUC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7889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417320"/>
            <a:ext cx="109728" cy="12801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161848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3D2E"/>
                </a:solidFill>
                <a:latin typeface="Calibri"/>
              </a:rPr>
              <a:t>88.6%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D525A"/>
                </a:solidFill>
                <a:latin typeface="Calibri"/>
              </a:rPr>
              <a:t>RF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7889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109728" cy="1280160"/>
          </a:xfrm>
          <a:prstGeom prst="rect">
            <a:avLst/>
          </a:prstGeom>
          <a:solidFill>
            <a:srgbClr val="8A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161848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3D2E"/>
                </a:solidFill>
                <a:latin typeface="Calibri"/>
              </a:rPr>
              <a:t>87.5%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D525A"/>
                </a:solidFill>
                <a:latin typeface="Calibri"/>
              </a:rPr>
              <a:t>LR ROC-AUC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417320"/>
            <a:ext cx="24688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26880" y="1417320"/>
            <a:ext cx="109728" cy="12801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82912" y="16184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3D2E"/>
                </a:solidFill>
                <a:latin typeface="Calibri"/>
              </a:rPr>
              <a:t>RF wins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2912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D525A"/>
                </a:solidFill>
                <a:latin typeface="Calibri"/>
              </a:rPr>
              <a:t>Primary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926080"/>
            <a:ext cx="113385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08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3D2E"/>
                </a:solidFill>
                <a:latin typeface="Calibri"/>
              </a:rPr>
              <a:t>What the numbers mean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1188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700" b="0">
                <a:solidFill>
                  <a:srgbClr val="0F2830"/>
                </a:solidFill>
                <a:latin typeface="Calibri"/>
              </a:rPr>
              <a:t>•  RF: Precision 93.0% · Recall 85.7% · F1 89.2%.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700" b="0">
                <a:solidFill>
                  <a:srgbClr val="0F2830"/>
                </a:solidFill>
                <a:latin typeface="Calibri"/>
              </a:rPr>
              <a:t>•  LR: Precision 75.8% · Recall 87.7% · F1 81.3%.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700" b="0">
                <a:solidFill>
                  <a:srgbClr val="0F2830"/>
                </a:solidFill>
                <a:latin typeface="Calibri"/>
              </a:rPr>
              <a:t>•  Strong predictors: payment reliability, delay, trading volume, partner mix and sales trend.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700" b="0">
                <a:solidFill>
                  <a:srgbClr val="0F2830"/>
                </a:solidFill>
                <a:latin typeface="Calibri"/>
              </a:rPr>
              <a:t>•  That is why Random Forest is the scoring model in the live prototype.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USHIRIKA  ·  Group 15  ·  EASTC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7  /  9</a:t>
            </a:r>
          </a:p>
        </p:txBody>
      </p:sp>
    </p:spTree>
  </p:cSld>
  <p:clrMapOvr>
    <a:masterClrMapping/>
  </p:clrMapOvr>
  <p:transition spd="med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RESULTS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389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B3D2E"/>
                </a:solidFill>
                <a:latin typeface="Georgia"/>
              </a:rPr>
              <a:t>Objectives met — and what must come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3657600" cy="4114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  Features from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481328"/>
            <a:ext cx="822960" cy="310896"/>
          </a:xfrm>
          <a:prstGeom prst="roundRect">
            <a:avLst>
              <a:gd name="adj" fmla="val 8000"/>
            </a:avLst>
          </a:prstGeom>
          <a:solidFill>
            <a:srgbClr val="1A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14996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D525A"/>
                </a:solidFill>
                <a:latin typeface="Calibri"/>
              </a:rPr>
              <a:t>Transactions become behavioural predictors used for scoring.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4173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1417320"/>
            <a:ext cx="3657600" cy="4114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481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  RF vs classical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481328"/>
            <a:ext cx="822960" cy="310896"/>
          </a:xfrm>
          <a:prstGeom prst="roundRect">
            <a:avLst>
              <a:gd name="adj" fmla="val 8000"/>
            </a:avLst>
          </a:prstGeom>
          <a:solidFill>
            <a:srgbClr val="1A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14996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011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D525A"/>
                </a:solidFill>
                <a:latin typeface="Calibri"/>
              </a:rPr>
              <a:t>RF beats LR on ROC-AUC (95.8% vs 87.5%).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1417320"/>
            <a:ext cx="3657600" cy="4114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481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  Standard 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89920" y="1481328"/>
            <a:ext cx="822960" cy="310896"/>
          </a:xfrm>
          <a:prstGeom prst="roundRect">
            <a:avLst>
              <a:gd name="adj" fmla="val 8000"/>
            </a:avLst>
          </a:prstGeom>
          <a:solidFill>
            <a:srgbClr val="1A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0" y="14996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011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D525A"/>
                </a:solidFill>
                <a:latin typeface="Calibri"/>
              </a:rPr>
              <a:t>Accuracy, Precision, Recall, F1 and ROC-AUC guide model choice.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291840"/>
            <a:ext cx="11338560" cy="274320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34290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39688"/>
                </a:solidFill>
                <a:latin typeface="Calibri"/>
              </a:rPr>
              <a:t>LIMITS &amp; 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947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The portal is live, but it is still a prototype — not a bank production system. The next step is a lender pilot on real SME ledgers, plus official verification links.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43484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0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39688"/>
                </a:solidFill>
                <a:latin typeface="Calibri"/>
              </a:rPr>
              <a:t>TRA — TIN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89204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EF0"/>
                </a:solidFill>
                <a:latin typeface="Calibri"/>
              </a:rPr>
              <a:t>Integrate with TRA to verify TIN numbers so registered businesses can be confirmed.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443484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0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80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39688"/>
                </a:solidFill>
                <a:latin typeface="Calibri"/>
              </a:rPr>
              <a:t>TRA — EFD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89204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EF0"/>
                </a:solidFill>
                <a:latin typeface="Calibri"/>
              </a:rPr>
              <a:t>Link EFD receipt verification so sales reported in the portal can be checked against fiscal records.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443484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0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83880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39688"/>
                </a:solidFill>
                <a:latin typeface="Calibri"/>
              </a:rPr>
              <a:t>NIDA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489204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EF0"/>
                </a:solidFill>
                <a:latin typeface="Calibri"/>
              </a:rPr>
              <a:t>Integrate with NIDA authority to verify national ID numbers beyond the current format and DOB checks.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USHIRIKA  ·  Group 15  ·  EASTC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8  /  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39688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The general objective was met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E6EEF0"/>
                </a:solidFill>
                <a:latin typeface="Calibri"/>
              </a:rPr>
              <a:t>Ushirika turns supply-chain transactions into clear credit scores. We compared Random Forest with Logistic Regression on hold-out data, and shipped a live portal for SMEs, lenders and admins.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17520"/>
            <a:ext cx="10607040" cy="640080"/>
          </a:xfrm>
          <a:prstGeom prst="roundRect">
            <a:avLst>
              <a:gd name="adj" fmla="val 8000"/>
            </a:avLst>
          </a:prstGeom>
          <a:solidFill>
            <a:srgbClr val="0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1821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39688"/>
                </a:solidFill>
                <a:latin typeface="Calibri"/>
              </a:rPr>
              <a:t>Highest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182112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Pilot with partner lenders on real SME ledgers.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94759"/>
            <a:ext cx="10607040" cy="640080"/>
          </a:xfrm>
          <a:prstGeom prst="roundRect">
            <a:avLst>
              <a:gd name="adj" fmla="val 8000"/>
            </a:avLst>
          </a:prstGeom>
          <a:solidFill>
            <a:srgbClr val="0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95935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39688"/>
                </a:solidFill>
                <a:latin typeface="Calibri"/>
              </a:rPr>
              <a:t>Authority 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959351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TRA (TIN &amp; EFD) and NIDA verification for stronger trust.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572000"/>
            <a:ext cx="10607040" cy="640080"/>
          </a:xfrm>
          <a:prstGeom prst="roundRect">
            <a:avLst>
              <a:gd name="adj" fmla="val 8000"/>
            </a:avLst>
          </a:prstGeom>
          <a:solidFill>
            <a:srgbClr val="0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736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39688"/>
                </a:solidFill>
                <a:latin typeface="Calibri"/>
              </a:rPr>
              <a:t>Before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736592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Managed database, hosting hardening, and ongoing model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39688"/>
                </a:solidFill>
                <a:latin typeface="Calibri"/>
              </a:rPr>
              <a:t>Asanteni  ·  Questions and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5943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B8D0C8"/>
                </a:solidFill>
                <a:latin typeface="Calibri"/>
              </a:rPr>
              <a:t>9  /  9</a:t>
            </a: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1025</Words>
  <Application>Microsoft Office PowerPoint</Application>
  <PresentationFormat>Widescreen</PresentationFormat>
  <Paragraphs>157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Raymond Tungaraza</cp:lastModifiedBy>
  <cp:revision>2</cp:revision>
  <dcterms:created xsi:type="dcterms:W3CDTF">2013-01-27T09:14:16Z</dcterms:created>
  <dcterms:modified xsi:type="dcterms:W3CDTF">2026-07-30T07:03:17Z</dcterms:modified>
  <cp:category/>
</cp:coreProperties>
</file>