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73152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3200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EASTERN AFRICA STATISTICAL TRAINING CENTRE (EASTC)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4008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EF0"/>
                </a:solidFill>
                <a:latin typeface="Calibri"/>
              </a:rPr>
              <a:t>Capstone Project Defence  ·  Bachelor of Data Science (Year III)  · 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789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D8E8E4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26080"/>
            <a:ext cx="6766560" cy="260604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063240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GROUP 15  ·  Presented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Herman Edward Mkumbwa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Raymond Elphance Tungaraza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Edwin Celestin Silayo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47472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Grace Joachim Mohammed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Priscila Nestor Mpembela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926080"/>
            <a:ext cx="3931920" cy="260604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01000" y="31089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39688"/>
                </a:solidFill>
                <a:latin typeface="Calibri"/>
              </a:rPr>
              <a:t>SUPERVISOR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47472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Mr. Rajabu Msangi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1605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39688"/>
                </a:solidFill>
                <a:latin typeface="Calibri"/>
              </a:rPr>
              <a:t>LIVE PROJECT LINK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52628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8E8E4"/>
                </a:solidFill>
                <a:latin typeface="Calibri"/>
              </a:rPr>
              <a:t>ushirika-sme-portal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D8E8E4"/>
                </a:solidFill>
                <a:latin typeface="Calibri"/>
              </a:rPr>
              <a:t>.vercel.app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9BC4BA"/>
                </a:solidFill>
                <a:latin typeface="Calibri"/>
              </a:rPr>
              <a:t>https://ushirika-sme-portal.vercel.app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126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1  /  9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1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2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/>
      <p:bldP spid="9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Why many Tanzanian SMEs still struggle to get fair credit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508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508760"/>
            <a:ext cx="128016" cy="20574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Collateral-heavy lending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Banks still ask for collateral and formal statements that most small traders simply do not 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508760"/>
            <a:ext cx="128016" cy="205740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Static risk ratios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3774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Old financial ratios often miss healthy businesses that work in informal or semi-formal supply chains.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794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3794760"/>
            <a:ext cx="128016" cy="20574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Unused payment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634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How buyers and suppliers actually pay is useful risk data — but few systems capture and use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794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3794760"/>
            <a:ext cx="128016" cy="205740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069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The missing middle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634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Without another way to score them, good SMEs stay locked out of formal finance.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2  /  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vortex dir="u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5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16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What we set out to 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63040"/>
            <a:ext cx="113385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128016" cy="13258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Build a working platform that reads supply-chain transactions and uses machine learning to give fairer, clearer credit risk scores for Tanzanian SMEs.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063240"/>
            <a:ext cx="365760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3063240"/>
            <a:ext cx="3657600" cy="6400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01  Features from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776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Turn raw supply-chain transactions into useful predictors.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3063240"/>
            <a:ext cx="365760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51960" y="3063240"/>
            <a:ext cx="3657600" cy="6400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912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02  Compare two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9776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Test Random Forest against Logistic Regression.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063240"/>
            <a:ext cx="365760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3063240"/>
            <a:ext cx="3657600" cy="6400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03  Prove with 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9776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Judge quality with Accuracy, Precision, Recall, F1 and ROC-AUC.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3  /  9</a:t>
            </a:r>
          </a:p>
        </p:txBody>
      </p:sp>
    </p:spTree>
  </p:cSld>
  <p:clrMapOvr>
    <a:masterClrMapping/>
  </p:clrMapOvr>
  <p:transition spd="med">
    <p:circl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Ushirika — a live credit platform for SMEs and lenders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278892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Vite portal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English / Kiswahili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37560" y="1508760"/>
            <a:ext cx="278892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Secure login flows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Role-based 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508760"/>
            <a:ext cx="2788920" cy="59436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RF (main) + LR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Plain repayment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281160" y="1508760"/>
            <a:ext cx="2788920" cy="59436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726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Data &amp; care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PII protected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Careful loan caps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75488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937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Lenders can search an SME, open the profile, and see score, risk band, plain signals and history.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Registration already checks NIDA against date of birth, and uses region and district lists.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The same portal works on desktop and on 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4  /  9</a:t>
            </a:r>
          </a:p>
        </p:txBody>
      </p:sp>
    </p:spTree>
  </p:cSld>
  <p:clrMapOvr>
    <a:masterClrMapping/>
  </p:clrMapOvr>
  <p:transition spd="med">
    <p:wheel spokes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What prior work shows — and what is still missing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2704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Random Forests handle non-linear patterns better than a single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37744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Ensemble classifiers beat classical baselines in credit scoring.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33756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44728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Transaction data can stand in for creditworthiness when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29768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4074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Value-chain finance leans on buyer–supplier links, not only collateral.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417320"/>
            <a:ext cx="4297680" cy="448056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0" y="1645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THE GAP IN TANZANIA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19456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Few tools join live SME transactions with ML scoring.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Most published benchmarks use developed-market data.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Local supply-chain signals are still under-used.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Ushirika turns that gap into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5  /  9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How we trained and tested the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562356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Features from payment behaviour, volume, delays and partners.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80/20 stratified train–test split (seed 42).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Models fit on training data only; GridSearchCV uses ROC-AUC.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Hold-out metrics: Accuracy, Precision, Recall, F1, ROC-AUC.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An SME is scored only after at least five transactions.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Rare large deals are down-weighted so they do not inflate loan size.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4864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031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Baseline: Logistic Regression with scaling.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Primary model: Random Forest Classifier.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Selection metric: hold-out ROC-AUC.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Score range about 300–850.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Risk bands: Low ≥650 · Medium 500–649 · High &lt;500.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Users see plain signals such as on-time payments and late days.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6  /  9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Random Forest beat Logistic Regression on unseen test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109728" cy="128016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618488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031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RF ROC-AUC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17320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1417320"/>
            <a:ext cx="109728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9312" y="1618488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1031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109728" cy="128016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11112" y="1618488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21031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LR 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1417320"/>
            <a:ext cx="24688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26880" y="1417320"/>
            <a:ext cx="109728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82912" y="16184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2912" y="2103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Primary model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926080"/>
            <a:ext cx="1133856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1089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What the numbers mean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61188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RF: Precision 93.0% · Recall 85.7% · F1 89.2%.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LR: Precision 75.8% · Recall 87.7% · F1 81.3%.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Strong predictors: payment reliability, delay, trading volume, partner mix and sales trend.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That is why Random Forest is the scoring model in the live prototype.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7  /  9</a:t>
            </a:r>
          </a:p>
        </p:txBody>
      </p:sp>
    </p:spTree>
  </p:cSld>
  <p:clrMapOvr>
    <a:masterClrMapping/>
  </p:clrMapOvr>
  <p:transition spd="med">
    <p:wheel spokes="3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2" grpId="0" animBg="1"/>
      <p:bldP spid="2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RESULTS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Objectives met — and what must come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657600" cy="4114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81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  Features from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481328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08960" y="1499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116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Transactions become behavioural predictors used for scoring.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51960" y="1417320"/>
            <a:ext cx="3657600" cy="4114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1481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  RF vs classical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481328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0" y="1499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0116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RF beats LR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417320"/>
            <a:ext cx="3657600" cy="4114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1481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  Standard evaluation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89920" y="1481328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789920" y="1499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Accuracy, Precision, Recall, F1 and ROC-AUC guide model choice.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291840"/>
            <a:ext cx="11338560" cy="274320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34290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LIMITS &amp; 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7947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The portal is live, but it is still a prototype — not a bank production system. The next step is a lender pilot on real SME ledgers, plus official verification links.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43484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526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TRA — TIN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8920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EF0"/>
                </a:solidFill>
                <a:latin typeface="Calibri"/>
              </a:rPr>
              <a:t>Integrate with TRA to verify TIN numbers so registered businesses can be confirmed.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43484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26280" y="4526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TRA — EFD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8920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EF0"/>
                </a:solidFill>
                <a:latin typeface="Calibri"/>
              </a:rPr>
              <a:t>Link EFD receipt verification so sales reported in the portal can be checked against fiscal records.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443484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83880" y="4526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NIDA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48920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EF0"/>
                </a:solidFill>
                <a:latin typeface="Calibri"/>
              </a:rPr>
              <a:t>Integrate with NIDA authority to verify national ID numbers beyond the current format and DOB checks.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8  /  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E6EEF0"/>
                </a:solidFill>
                <a:latin typeface="Calibri"/>
              </a:rPr>
              <a:t>Ushirika turns supply-chain transactions into clear credit scores. We compared Random Forest with Logistic Regression on hold-out data, and shipped a live portal for SMEs, lenders and admins.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17520"/>
            <a:ext cx="10607040" cy="6400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318211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3182112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Pilot with partner lenders on real SME ledgers.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59"/>
            <a:ext cx="10607040" cy="6400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959351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Authority links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959351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TRA (TIN &amp; EFD) and NIDA verification for stronger trust.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572000"/>
            <a:ext cx="10607040" cy="6400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736592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Managed database, hosting hardening, and ongoing model review.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5943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9  /  9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7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/>
      <p:bldP spid="6" grpId="0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1025</Words>
  <Application>Microsoft Office PowerPoint</Application>
  <PresentationFormat>Widescreen</PresentationFormat>
  <Paragraphs>157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Raymond Tungaraza</cp:lastModifiedBy>
  <cp:revision>2</cp:revision>
  <dcterms:created xsi:type="dcterms:W3CDTF">2013-01-27T09:14:16Z</dcterms:created>
  <dcterms:modified xsi:type="dcterms:W3CDTF">2026-07-30T05:53:15Z</dcterms:modified>
  <cp:category/>
</cp:coreProperties>
</file>